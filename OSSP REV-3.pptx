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Opens served from RAM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Opens served from RAM (%)</c:v>
                </c:pt>
              </c:strCache>
            </c:strRef>
          </c:tx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Cold cache</c:v>
                </c:pt>
                <c:pt idx="1">
                  <c:v>Linux default</c:v>
                </c:pt>
                <c:pt idx="2">
                  <c:v>FileMind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69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04-4CC7-8C37-0510121D4A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7B944-1971-4ECB-94AE-0859ED2C85CD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7038D-B740-4DA5-8FEB-FFA25A8E3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72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416377" y="1508760"/>
            <a:ext cx="5328766" cy="67710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3800" b="1"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30781" y="2743200"/>
            <a:ext cx="7099957" cy="52322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700"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32633" y="4023360"/>
            <a:ext cx="5096268" cy="461665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1800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366760" y="777240"/>
            <a:ext cx="3200400" cy="3200400"/>
          </a:xfrm>
          <a:prstGeom prst="ellipse">
            <a:avLst/>
          </a:prstGeom>
          <a:solidFill>
            <a:srgbClr val="15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281160" y="1600200"/>
            <a:ext cx="2011680" cy="2011680"/>
          </a:xfrm>
          <a:prstGeom prst="ellipse">
            <a:avLst/>
          </a:prstGeom>
          <a:solidFill>
            <a:srgbClr val="19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92440" y="3931920"/>
            <a:ext cx="2560320" cy="2560320"/>
          </a:xfrm>
          <a:prstGeom prst="ellipse">
            <a:avLst/>
          </a:prstGeom>
          <a:solidFill>
            <a:srgbClr val="13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8001000" y="1143000"/>
            <a:ext cx="1371600" cy="36576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72600" y="1143000"/>
            <a:ext cx="1280160" cy="68580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01000" y="1508760"/>
            <a:ext cx="457200" cy="123444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58200" y="2743200"/>
            <a:ext cx="1463040" cy="41148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21240" y="3154680"/>
            <a:ext cx="1051560" cy="594359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92440" y="2743200"/>
            <a:ext cx="365760" cy="169164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92440" y="4434840"/>
            <a:ext cx="1371600" cy="36576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64040" y="4800600"/>
            <a:ext cx="1280160" cy="27432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464040" y="3154680"/>
            <a:ext cx="457200" cy="164592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72600" y="1143000"/>
            <a:ext cx="548640" cy="2011680"/>
          </a:xfrm>
          <a:prstGeom prst="line">
            <a:avLst/>
          </a:prstGeom>
          <a:ln w="19050">
            <a:solidFill>
              <a:srgbClr val="438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909560" y="1417319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281160" y="1051560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61320" y="1737360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66760" y="2651760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774936" y="3008376"/>
            <a:ext cx="292608" cy="292608"/>
          </a:xfrm>
          <a:prstGeom prst="ellipse">
            <a:avLst/>
          </a:prstGeom>
          <a:solidFill>
            <a:srgbClr val="38CDDA"/>
          </a:solidFill>
          <a:ln w="12700">
            <a:solidFill>
              <a:srgbClr val="E1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881360" y="3657599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01000" y="4343400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72600" y="4709160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52760" y="4983480"/>
            <a:ext cx="182880" cy="182880"/>
          </a:xfrm>
          <a:prstGeom prst="ellipse">
            <a:avLst/>
          </a:prstGeom>
          <a:solidFill>
            <a:srgbClr val="2970BE"/>
          </a:solidFill>
          <a:ln w="12700">
            <a:solidFill>
              <a:srgbClr val="2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823960" y="2240280"/>
            <a:ext cx="1554480" cy="1737360"/>
          </a:xfrm>
          <a:prstGeom prst="roundRect">
            <a:avLst/>
          </a:prstGeom>
          <a:solidFill>
            <a:srgbClr val="F5F9FF"/>
          </a:solidFill>
          <a:ln w="25400">
            <a:solidFill>
              <a:srgbClr val="38C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0F1D36"/>
                </a:solidFill>
                <a:latin typeface="Aptos Display"/>
              </a:rPr>
              <a:t>FILE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2971800"/>
            <a:ext cx="822960" cy="64008"/>
          </a:xfrm>
          <a:prstGeom prst="roundRect">
            <a:avLst/>
          </a:prstGeom>
          <a:solidFill>
            <a:srgbClr val="2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9720" y="3218688"/>
            <a:ext cx="1005840" cy="64008"/>
          </a:xfrm>
          <a:prstGeom prst="roundRect">
            <a:avLst/>
          </a:prstGeom>
          <a:solidFill>
            <a:srgbClr val="2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89720" y="3465576"/>
            <a:ext cx="594360" cy="64008"/>
          </a:xfrm>
          <a:prstGeom prst="roundRect">
            <a:avLst/>
          </a:prstGeom>
          <a:solidFill>
            <a:srgbClr val="2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94360"/>
            <a:ext cx="60350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38CDDA"/>
                </a:solidFill>
                <a:latin typeface="Aptos"/>
              </a:rPr>
              <a:t>OPERATING SYSTEMS &amp; SYSTEM PROGRAMMING  •  REVIEW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141732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FileMind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2267712"/>
            <a:ext cx="5943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E1F0FF"/>
                </a:solidFill>
                <a:latin typeface="Aptos Display"/>
              </a:rPr>
              <a:t>Intelligent File Access</a:t>
            </a:r>
            <a:br/>
            <a:r>
              <a:rPr sz="2400" b="1">
                <a:solidFill>
                  <a:srgbClr val="E1F0FF"/>
                </a:solidFill>
                <a:latin typeface="Aptos Display"/>
              </a:rPr>
              <a:t>Prediction 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" y="3218688"/>
            <a:ext cx="914400" cy="54864"/>
          </a:xfrm>
          <a:prstGeom prst="rect">
            <a:avLst/>
          </a:prstGeom>
          <a:solidFill>
            <a:srgbClr val="38C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2" y="3493008"/>
            <a:ext cx="6126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38CDDA"/>
                </a:solidFill>
                <a:latin typeface="Aptos"/>
              </a:rPr>
              <a:t>Predict. Prefetch. Perform.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251960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CCCE1"/>
                </a:solidFill>
                <a:latin typeface="Aptos"/>
              </a:rPr>
              <a:t>PROJECT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4617720"/>
            <a:ext cx="6492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Komala Shravya  •  Manugula Sri Harshini</a:t>
            </a:r>
            <a:br/>
            <a:r>
              <a:rPr sz="1400" b="0">
                <a:solidFill>
                  <a:srgbClr val="FFFFFF"/>
                </a:solidFill>
                <a:latin typeface="Aptos"/>
              </a:rPr>
              <a:t>Anil  •  Deekshith Reddy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870448"/>
            <a:ext cx="6400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BCCCE1"/>
                </a:solidFill>
                <a:latin typeface="Aptos"/>
              </a:rPr>
              <a:t>Methodology Evaluation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5299" y="320040"/>
            <a:ext cx="5490927" cy="70788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800" b="1"/>
            </a:pPr>
            <a:r>
              <a:rPr sz="2600" b="1">
                <a:solidFill>
                  <a:srgbClr val="1B304C"/>
                </a:solidFill>
                <a:latin typeface="Aptos"/>
              </a:rPr>
              <a:t>Proposed Methodology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607040" cy="441659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>
              <a:spcAft>
                <a:spcPts val="200"/>
              </a:spcAft>
              <a:defRPr sz="2300"/>
            </a:pPr>
            <a:r>
              <a:rPr sz="1700">
                <a:solidFill>
                  <a:srgbClr val="2D343C"/>
                </a:solidFill>
                <a:latin typeface="Aptos"/>
              </a:rPr>
              <a:t>FileMind changes file access from reactive to proactive.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343C"/>
                </a:solidFill>
                <a:latin typeface="Aptos"/>
              </a:rPr>
              <a:t>1. Access Monitor (C / Linux inotify): captures file activity.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343C"/>
                </a:solidFill>
                <a:latin typeface="Aptos"/>
              </a:rPr>
              <a:t>2. Access History: stores time-stamped file-open events in CSV.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343C"/>
                </a:solidFill>
                <a:latin typeface="Aptos"/>
              </a:rPr>
              <a:t>3. Pattern Analysis: finds repeated file sequences and time context.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343C"/>
                </a:solidFill>
                <a:latin typeface="Aptos"/>
              </a:rPr>
              <a:t>4. Prediction: Markov transitions rank likely next files; a decision tree can add time-of-day context.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343C"/>
                </a:solidFill>
                <a:latin typeface="Aptos"/>
              </a:rPr>
              <a:t>5. Prefetch: posix_fadvise(WILLNEED) asks Linux to prepare the predicted file in the page cache.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343C"/>
                </a:solidFill>
                <a:latin typeface="Aptos"/>
              </a:rPr>
              <a:t>Overall workflow: Monitor → Record → Analyse → Predict → Prefetch → Access.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343C"/>
                </a:solidFill>
                <a:latin typeface="Aptos"/>
              </a:rPr>
              <a:t>Expected contribution: reduce waiting when the next-file prediction is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5486400"/>
            <a:ext cx="1874519" cy="68580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Monitor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C / inotify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79" y="5833872"/>
            <a:ext cx="320041" cy="0"/>
          </a:xfrm>
          <a:prstGeom prst="line">
            <a:avLst/>
          </a:prstGeom>
          <a:ln w="25400">
            <a:solidFill>
              <a:srgbClr val="25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5486400"/>
            <a:ext cx="1874519" cy="68580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History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Timestamped CSV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5833872"/>
            <a:ext cx="320040" cy="0"/>
          </a:xfrm>
          <a:prstGeom prst="line">
            <a:avLst/>
          </a:prstGeom>
          <a:ln w="25400">
            <a:solidFill>
              <a:srgbClr val="25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5486400"/>
            <a:ext cx="1874519" cy="68580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Analyse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Patterns + 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5833872"/>
            <a:ext cx="320040" cy="0"/>
          </a:xfrm>
          <a:prstGeom prst="line">
            <a:avLst/>
          </a:prstGeom>
          <a:ln w="25400">
            <a:solidFill>
              <a:srgbClr val="25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5486400"/>
            <a:ext cx="1874519" cy="68580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Predict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Markov + tree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5833872"/>
            <a:ext cx="320039" cy="0"/>
          </a:xfrm>
          <a:prstGeom prst="line">
            <a:avLst/>
          </a:prstGeom>
          <a:ln w="25400">
            <a:solidFill>
              <a:srgbClr val="25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55480" y="5486400"/>
            <a:ext cx="1874519" cy="68580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Prefetch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Linux page cache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59" y="320040"/>
            <a:ext cx="11177093" cy="70788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800" b="1"/>
            </a:pPr>
            <a:r>
              <a:rPr sz="2400" b="1">
                <a:solidFill>
                  <a:srgbClr val="1B304C"/>
                </a:solidFill>
                <a:latin typeface="Aptos"/>
              </a:rPr>
              <a:t>Novelty of Developed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66388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  <a:defRPr sz="1900"/>
            </a:pPr>
            <a:r>
              <a:rPr sz="1600">
                <a:solidFill>
                  <a:srgbClr val="2D343C"/>
                </a:solidFill>
                <a:latin typeface="Aptos"/>
              </a:rPr>
              <a:t>What is new in FileMind?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Predicts the next user data file, not just the next block inside one file or an application to launch.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Combines per-user file-open sequences with time-of-day context.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Uses a confidence threshold (τ = 0.30) and limits prefetching to at most k = 2 files per open.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Measures prediction hit rate, file-open latency, disk reads, and resource overhead.</a:t>
            </a:r>
          </a:p>
          <a:p>
            <a:pPr>
              <a:spcAft>
                <a:spcPts val="500"/>
              </a:spcAft>
            </a:pPr>
            <a:endParaRPr sz="16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Difference from existing approaches: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Linux readahead focuses on sequential blocks; preload / SuperFetch-style tools focus on programs or libraries. FileMind targets likely next user files and feeds hit/miss results back into its model.</a:t>
            </a:r>
          </a:p>
          <a:p>
            <a:pPr>
              <a:spcAft>
                <a:spcPts val="500"/>
              </a:spcAft>
            </a:pPr>
            <a:endParaRPr sz="16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Improvement goal: useful prefetching for repeated workflows while avoiding unnecessary work on random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257800"/>
            <a:ext cx="3246120" cy="77724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2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400" b="1">
                <a:solidFill>
                  <a:srgbClr val="1B304C"/>
                </a:solidFill>
                <a:latin typeface="Aptos Display"/>
              </a:rPr>
              <a:t>File-level prediction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2D343C"/>
                </a:solidFill>
                <a:latin typeface="Aptos"/>
              </a:rPr>
              <a:t>Predicts the next document / source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5257800"/>
            <a:ext cx="3246120" cy="77724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400" b="1">
                <a:solidFill>
                  <a:srgbClr val="1B304C"/>
                </a:solidFill>
                <a:latin typeface="Aptos Display"/>
              </a:rPr>
              <a:t>Personalised learning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2D343C"/>
                </a:solidFill>
                <a:latin typeface="Aptos"/>
              </a:rPr>
              <a:t>Uses a user's own access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257800"/>
            <a:ext cx="3246120" cy="77724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C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400" b="1">
                <a:solidFill>
                  <a:srgbClr val="1B304C"/>
                </a:solidFill>
                <a:latin typeface="Aptos Display"/>
              </a:rPr>
              <a:t>Controlled prefetch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2D343C"/>
                </a:solidFill>
                <a:latin typeface="Aptos"/>
              </a:rPr>
              <a:t>Confidence gate + small limit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689" y="320040"/>
            <a:ext cx="11377913" cy="70788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800" b="1"/>
            </a:pPr>
            <a:r>
              <a:rPr sz="2600" b="1">
                <a:solidFill>
                  <a:srgbClr val="1B304C"/>
                </a:solidFill>
                <a:latin typeface="Aptos"/>
              </a:rPr>
              <a:t>Datasets / Inputs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1200329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>
              <a:spcAft>
                <a:spcPts val="200"/>
              </a:spcAft>
              <a:defRPr sz="1900"/>
            </a:pPr>
            <a:r>
              <a:rPr sz="1600">
                <a:solidFill>
                  <a:srgbClr val="2D343C"/>
                </a:solidFill>
                <a:latin typeface="Aptos"/>
              </a:rPr>
              <a:t>Inputs used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Time-stamped file-access history (file path / sequence / time).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Generated demo records and observed file-open events.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Context features: current file, previous file, and hour of day.</a:t>
            </a:r>
          </a:p>
          <a:p>
            <a:pPr>
              <a:spcAft>
                <a:spcPts val="500"/>
              </a:spcAft>
            </a:pPr>
            <a:endParaRPr sz="16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Training and evaluation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Split sessions: 70% for training and 30% for testing (as described in the benchmark method).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Test workflows: coding, document work, and random access.</a:t>
            </a:r>
          </a:p>
          <a:p>
            <a:pPr>
              <a:spcAft>
                <a:spcPts val="500"/>
              </a:spcAft>
            </a:pPr>
            <a:endParaRPr sz="16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Scalability and customisation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Separate logs and models can be maintained per user.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History grows as files are opened; model complexity is intentionally lightweight.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• Works best where access sequences repeat; random or first-time use has less useful history.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00600"/>
            <a:ext cx="3154680" cy="91440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2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500" b="1">
                <a:solidFill>
                  <a:srgbClr val="1B304C"/>
                </a:solidFill>
                <a:latin typeface="Aptos Display"/>
              </a:rPr>
              <a:t>Input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2D343C"/>
                </a:solidFill>
                <a:latin typeface="Aptos"/>
              </a:rPr>
              <a:t>File-open events + timestamps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4800600"/>
            <a:ext cx="3154680" cy="91440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500" b="1">
                <a:solidFill>
                  <a:srgbClr val="1B304C"/>
                </a:solidFill>
                <a:latin typeface="Aptos Display"/>
              </a:rPr>
              <a:t>Features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2D343C"/>
                </a:solidFill>
                <a:latin typeface="Aptos"/>
              </a:rPr>
              <a:t>Current / previous file + hour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4800600"/>
            <a:ext cx="3154680" cy="91440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C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500" b="1">
                <a:solidFill>
                  <a:srgbClr val="1B304C"/>
                </a:solidFill>
                <a:latin typeface="Aptos Display"/>
              </a:rPr>
              <a:t>Output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2D343C"/>
                </a:solidFill>
                <a:latin typeface="Aptos"/>
              </a:rPr>
              <a:t>Ranked next-file predictions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5257800"/>
            <a:ext cx="457200" cy="0"/>
          </a:xfrm>
          <a:prstGeom prst="line">
            <a:avLst/>
          </a:prstGeom>
          <a:ln w="25400">
            <a:solidFill>
              <a:srgbClr val="25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5257800"/>
            <a:ext cx="457200" cy="0"/>
          </a:xfrm>
          <a:prstGeom prst="line">
            <a:avLst/>
          </a:prstGeom>
          <a:ln w="25400">
            <a:solidFill>
              <a:srgbClr val="25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86328" y="320040"/>
            <a:ext cx="4988866" cy="70788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800" b="1"/>
            </a:pPr>
            <a:r>
              <a:rPr sz="2600" b="1">
                <a:solidFill>
                  <a:srgbClr val="1B304C"/>
                </a:solidFill>
                <a:latin typeface="Aptos"/>
              </a:rPr>
              <a:t>Application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2046714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>
              <a:spcAft>
                <a:spcPts val="200"/>
              </a:spcAft>
              <a:defRPr sz="1900"/>
            </a:pPr>
            <a:r>
              <a:rPr sz="1600">
                <a:solidFill>
                  <a:srgbClr val="2D343C"/>
                </a:solidFill>
                <a:latin typeface="Aptos"/>
              </a:rPr>
              <a:t>Scenario 1 — Coding workflow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After opening a source file, FileMind may prepare a related header, build file, or notes file.</a:t>
            </a:r>
          </a:p>
          <a:p>
            <a:pPr>
              <a:spcAft>
                <a:spcPts val="500"/>
              </a:spcAft>
            </a:pPr>
            <a:endParaRPr sz="16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Scenario 2 — Document workflow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After working on a report, the system may predict related data files or presentation slides.</a:t>
            </a:r>
          </a:p>
          <a:p>
            <a:pPr>
              <a:spcAft>
                <a:spcPts val="500"/>
              </a:spcAft>
            </a:pPr>
            <a:endParaRPr sz="16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Scenario 3 — Repeated daily workflow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Time-of-day context can help rank files commonly used at a particular time.</a:t>
            </a:r>
          </a:p>
          <a:p>
            <a:pPr>
              <a:spcAft>
                <a:spcPts val="500"/>
              </a:spcAft>
            </a:pPr>
            <a:endParaRPr sz="16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Scenario 4 — Random or new-user access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2D343C"/>
                </a:solidFill>
                <a:latin typeface="Aptos"/>
              </a:rPr>
              <a:t>If there is no reliable pattern, the confidence threshold should limit prefetching.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663440"/>
            <a:ext cx="2560320" cy="96012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2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400" b="1">
                <a:solidFill>
                  <a:srgbClr val="1B304C"/>
                </a:solidFill>
                <a:latin typeface="Aptos Display"/>
              </a:rPr>
              <a:t>Coding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2D343C"/>
                </a:solidFill>
                <a:latin typeface="Aptos"/>
              </a:rPr>
              <a:t>Source → header / build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4663440"/>
            <a:ext cx="2560320" cy="96012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400" b="1">
                <a:solidFill>
                  <a:srgbClr val="1B304C"/>
                </a:solidFill>
                <a:latin typeface="Aptos Display"/>
              </a:rPr>
              <a:t>Documents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2D343C"/>
                </a:solidFill>
                <a:latin typeface="Aptos"/>
              </a:rPr>
              <a:t>Report → data / slides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4663440"/>
            <a:ext cx="2560320" cy="96012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C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400" b="1">
                <a:solidFill>
                  <a:srgbClr val="1B304C"/>
                </a:solidFill>
                <a:latin typeface="Aptos Display"/>
              </a:rPr>
              <a:t>Routine use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2D343C"/>
                </a:solidFill>
                <a:latin typeface="Aptos"/>
              </a:rPr>
              <a:t>Learns repeated sequences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4663440"/>
            <a:ext cx="2103120" cy="96012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DE9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400" b="1">
                <a:solidFill>
                  <a:srgbClr val="1B304C"/>
                </a:solidFill>
                <a:latin typeface="Aptos Display"/>
              </a:rPr>
              <a:t>Random use</a:t>
            </a:r>
          </a:p>
          <a:p>
            <a:pPr algn="ctr">
              <a:spcBef>
                <a:spcPts val="300"/>
              </a:spcBef>
            </a:pPr>
            <a:r>
              <a:rPr sz="1000">
                <a:solidFill>
                  <a:srgbClr val="2D343C"/>
                </a:solidFill>
                <a:latin typeface="Aptos"/>
              </a:rPr>
              <a:t>Low-confidence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1068638" cy="70788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800" b="1"/>
            </a:pPr>
            <a:r>
              <a:rPr sz="2600" b="1">
                <a:solidFill>
                  <a:srgbClr val="1B304C"/>
                </a:solidFill>
                <a:latin typeface="Aptos"/>
              </a:rPr>
              <a:t>Methodology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163121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>
              <a:spcAft>
                <a:spcPts val="200"/>
              </a:spcAft>
              <a:defRPr sz="1900"/>
            </a:pPr>
            <a:r>
              <a:rPr sz="1500">
                <a:solidFill>
                  <a:srgbClr val="2D343C"/>
                </a:solidFill>
                <a:latin typeface="Aptos"/>
              </a:rPr>
              <a:t>Test cases</a:t>
            </a:r>
            <a:endParaRPr lang="en-IN" dirty="0"/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TC1 — Repeated sequence: open A then B repeatedly; check whether B is predicted.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TC2 — Coding workload: edit / compile / run cycles with recurring files.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TC3 — Document workload: reports, CSV data, and slides.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TC4 — Random access: open unrelated files to test whether the confidence gate avoids excessive prefetching.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TC5 — Cold start: start with little or no history and verify fallback behaviour.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TC6 — Prefetch result: compare whether the next file is already in the page cache.</a:t>
            </a:r>
          </a:p>
          <a:p>
            <a:pPr>
              <a:spcAft>
                <a:spcPts val="500"/>
              </a:spcAft>
            </a:pPr>
            <a:endParaRPr sz="15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Evaluation measures: top-1 / top-3 prediction hit rate, mean open latency, disk reads, CPU and memory overhead.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For a fair comparison, use the same workload with cold cache, Linux default caching/readahead, and FileMind enabled.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572000"/>
            <a:ext cx="3246120" cy="566928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2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200" b="1">
                <a:solidFill>
                  <a:srgbClr val="1B304C"/>
                </a:solidFill>
                <a:latin typeface="Aptos Display"/>
              </a:rPr>
              <a:t>TC1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Repeated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572000"/>
            <a:ext cx="3246120" cy="566928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200" b="1">
                <a:solidFill>
                  <a:srgbClr val="1B304C"/>
                </a:solidFill>
                <a:latin typeface="Aptos Display"/>
              </a:rPr>
              <a:t>TC2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Coding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19" y="4572000"/>
            <a:ext cx="3246120" cy="566928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C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200" b="1">
                <a:solidFill>
                  <a:srgbClr val="1B304C"/>
                </a:solidFill>
                <a:latin typeface="Aptos Display"/>
              </a:rPr>
              <a:t>TC3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Document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285232"/>
            <a:ext cx="3246120" cy="566928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2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200" b="1">
                <a:solidFill>
                  <a:srgbClr val="1B304C"/>
                </a:solidFill>
                <a:latin typeface="Aptos Display"/>
              </a:rPr>
              <a:t>TC4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Random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285232"/>
            <a:ext cx="3246120" cy="566928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200" b="1">
                <a:solidFill>
                  <a:srgbClr val="1B304C"/>
                </a:solidFill>
                <a:latin typeface="Aptos Display"/>
              </a:rPr>
              <a:t>TC5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Cold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5285232"/>
            <a:ext cx="3246120" cy="566928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C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200" b="1">
                <a:solidFill>
                  <a:srgbClr val="1B304C"/>
                </a:solidFill>
                <a:latin typeface="Aptos Display"/>
              </a:rPr>
              <a:t>TC6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Cache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1072921" cy="70788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800" b="1"/>
            </a:pPr>
            <a:r>
              <a:rPr sz="2400" b="1">
                <a:solidFill>
                  <a:srgbClr val="1B304C"/>
                </a:solidFill>
                <a:latin typeface="Aptos"/>
              </a:rPr>
              <a:t>Methodology Evaluation –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526701"/>
            <a:ext cx="10607040" cy="67710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>
              <a:spcAft>
                <a:spcPts val="200"/>
              </a:spcAft>
              <a:defRPr sz="1900"/>
            </a:pPr>
            <a:r>
              <a:rPr sz="1300">
                <a:solidFill>
                  <a:srgbClr val="2D343C"/>
                </a:solidFill>
                <a:latin typeface="Aptos"/>
              </a:rPr>
              <a:t>Reported coding-workload benchmark (W1; 240 opens, mean of 3 runs). Values below are from the current project review material; rerun on the demo machine before presenting them as final local measurements.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r">
              <a:spcAft>
                <a:spcPts val="200"/>
              </a:spcAft>
              <a:defRPr sz="900"/>
            </a:pPr>
            <a:r>
              <a:rPr sz="900" b="0">
                <a:solidFill>
                  <a:srgbClr val="697480"/>
                </a:solidFill>
                <a:latin typeface="Aptos"/>
              </a:rPr>
              <a:t>FileMind | Review 3 — Methodology Evaluation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33172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2423160"/>
          <a:ext cx="534009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Cold</a:t>
                      </a:r>
                    </a:p>
                  </a:txBody>
                  <a:tcPr marL="36576" marR="36576" marT="27432" marB="27432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Linux</a:t>
                      </a:r>
                    </a:p>
                  </a:txBody>
                  <a:tcPr marL="36576" marR="36576" marT="27432" marB="27432">
                    <a:solidFill>
                      <a:srgbClr val="1B30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FileMind</a:t>
                      </a:r>
                    </a:p>
                  </a:txBody>
                  <a:tcPr marL="36576" marR="36576" marT="27432" marB="27432">
                    <a:solidFill>
                      <a:srgbClr val="1B30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RAM-served opens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0%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69%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90%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Mean open latency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4.27 ms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3.13 ms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2.77 ms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Disk reads on user path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2278 MB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668 MB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43C"/>
                          </a:solidFill>
                          <a:latin typeface="Aptos"/>
                        </a:rPr>
                        <a:t>208 MB</a:t>
                      </a:r>
                    </a:p>
                  </a:txBody>
                  <a:tcPr marL="36576" marR="36576" marT="27432" marB="27432">
                    <a:solidFill>
                      <a:srgbClr val="E8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5074920"/>
            <a:ext cx="5120640" cy="77724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304C"/>
                </a:solidFill>
                <a:latin typeface="Aptos"/>
              </a:rPr>
              <a:t>Top-1 hit rate: 67%  •  Top-3 hit rate: 96%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B304C"/>
                </a:solidFill>
                <a:latin typeface="Aptos"/>
              </a:rPr>
              <a:t>Prediction time / model size: 0.58 ms / 2.2 KB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39" y="320040"/>
            <a:ext cx="10693271" cy="707886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800" b="1"/>
            </a:pPr>
            <a:r>
              <a:rPr sz="2600" b="1">
                <a:solidFill>
                  <a:srgbClr val="1B304C"/>
                </a:solidFill>
                <a:latin typeface="Aptos"/>
              </a:rPr>
              <a:t>Validation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07040" cy="677108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>
              <a:spcAft>
                <a:spcPts val="200"/>
              </a:spcAft>
              <a:defRPr sz="1900"/>
            </a:pPr>
            <a:r>
              <a:rPr sz="1500">
                <a:solidFill>
                  <a:srgbClr val="2D343C"/>
                </a:solidFill>
                <a:latin typeface="Aptos"/>
              </a:rPr>
              <a:t>How the method is validated</a:t>
            </a:r>
            <a:endParaRPr dirty="0"/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• Compare three baselines on the same workloads: cold cache, Linux default page cache + readahead, and FileMind on top of the default.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• Use coding, document, and random-access workloads to check both benefits and failure cases.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• Train on 70% of sessions and test on the remaining 30%; repeat each run three times and average the results.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• Measure RAM-served opens, top-1 / top-3 hit rate, mean open latency, disk reads, CPU and memory overhead.</a:t>
            </a:r>
          </a:p>
          <a:p>
            <a:pPr>
              <a:spcAft>
                <a:spcPts val="500"/>
              </a:spcAft>
            </a:pPr>
            <a:endParaRPr sz="15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Discussion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• Patterned workflows benefit most: the review reports 90–92% of opens served from RAM for W1/W2, compared with 69–71% for Linux default.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• Random access has little predictable structure, so the confidence gate should keep prefetching low.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• Wrong predictions can waste disk bandwidth; results should be rerun on the target laptop and reported honestly.</a:t>
            </a:r>
          </a:p>
          <a:p>
            <a:pPr>
              <a:spcAft>
                <a:spcPts val="500"/>
              </a:spcAft>
            </a:pPr>
            <a:endParaRPr sz="1500">
              <a:solidFill>
                <a:srgbClr val="2D343C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2D343C"/>
                </a:solidFill>
                <a:latin typeface="Aptos"/>
              </a:rPr>
              <a:t>Conclusion: FileMind is most useful when user file-access sequences repeat; it should stay lightweight when patterns are weak.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5440680"/>
            <a:ext cx="3200400" cy="64008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2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Baseline comparison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Same workload, three setups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5440680"/>
            <a:ext cx="3200400" cy="640080"/>
          </a:xfrm>
          <a:prstGeom prst="roundRect">
            <a:avLst/>
          </a:prstGeom>
          <a:solidFill>
            <a:srgbClr val="F4F7FA"/>
          </a:solidFill>
          <a:ln w="17780">
            <a:solidFill>
              <a:srgbClr val="2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Repeatability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3 runs; report the mean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5440680"/>
            <a:ext cx="3200400" cy="640080"/>
          </a:xfrm>
          <a:prstGeom prst="roundRect">
            <a:avLst/>
          </a:prstGeom>
          <a:solidFill>
            <a:srgbClr val="E8F1F9"/>
          </a:solidFill>
          <a:ln w="17780">
            <a:solidFill>
              <a:srgbClr val="3C9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36576" rtlCol="0" anchor="ctr"/>
          <a:lstStyle/>
          <a:p>
            <a:pPr algn="ctr"/>
            <a:r>
              <a:rPr sz="1300" b="1">
                <a:solidFill>
                  <a:srgbClr val="1B304C"/>
                </a:solidFill>
                <a:latin typeface="Aptos Display"/>
              </a:rPr>
              <a:t>Honest limitation</a:t>
            </a: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D343C"/>
                </a:solidFill>
                <a:latin typeface="Aptos"/>
              </a:rPr>
              <a:t>Random access is hard to predict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28800" y="2103120"/>
            <a:ext cx="8503920" cy="646331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2500"/>
            </a:pPr>
            <a:r>
              <a:rPr sz="3000" b="1">
                <a:solidFill>
                  <a:srgbClr val="1B304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square" lIns="73152" tIns="36576" rIns="73152" bIns="27432" anchor="t">
            <a:spAutoFit/>
          </a:bodyPr>
          <a:lstStyle/>
          <a:p>
            <a:pPr algn="ctr">
              <a:spcAft>
                <a:spcPts val="200"/>
              </a:spcAft>
              <a:defRPr sz="900"/>
            </a:pPr>
            <a:r>
              <a:rPr sz="1200" b="0">
                <a:solidFill>
                  <a:srgbClr val="697480"/>
                </a:solidFill>
                <a:latin typeface="Aptos"/>
              </a:rPr>
              <a:t>FileMind • Predict. Prefetch. Perform.</a:t>
            </a:r>
          </a:p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97480"/>
                </a:solidFill>
                <a:latin typeface="Aptos"/>
              </a:rPr>
              <a:t>Komala Shravya • Manugula Sri Harshini • Anil • Deekshith Reddy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1086</Words>
  <Application>Microsoft Office PowerPoint</Application>
  <PresentationFormat>Widescreen</PresentationFormat>
  <Paragraphs>151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Sasidhar K</dc:creator>
  <cp:keywords/>
  <dc:description>generated using python-pptx</dc:description>
  <cp:lastModifiedBy>komala shravya</cp:lastModifiedBy>
  <cp:revision>3</cp:revision>
  <dcterms:created xsi:type="dcterms:W3CDTF">2013-01-27T09:14:16Z</dcterms:created>
  <dcterms:modified xsi:type="dcterms:W3CDTF">2026-10-11T03:39:59Z</dcterms:modified>
  <cp:category/>
</cp:coreProperties>
</file>