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81E2958-D827-5DE4-968F-38B027E5E53A}">
          <p14:sldIdLst>
            <p14:sldId id="256"/>
            <p14:sldId id="257"/>
          </p14:sldIdLst>
        </p14:section>
        <p14:section name="Methodology" id="{3EA0AA05-6082-746A-E5A1-BDB63FEF2C0D}">
          <p14:sldIdLst>
            <p14:sldId id="258"/>
            <p14:sldId id="259"/>
            <p14:sldId id="260"/>
            <p14:sldId id="261"/>
            <p14:sldId id="262"/>
          </p14:sldIdLst>
        </p14:section>
        <p14:section name="Evaluation" id="{E9826739-72D5-8726-2722-D539A172FAA5}">
          <p14:sldIdLst>
            <p14:sldId id="263"/>
            <p14:sldId id="264"/>
            <p14:sldId id="265"/>
            <p14:sldId id="266"/>
          </p14:sldIdLst>
        </p14:section>
        <p14:section name="Conclusion" id="{99746D7E-FEBB-0A58-ABB0-989D95CEED0E}">
          <p14:sldIdLst>
            <p14:sldId id="267"/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16778-75AF-49BB-9F7F-410637B20D3F}" v="2" dt="2026-10-07T07:37:50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mala shravya" userId="56914f952aaa9477" providerId="LiveId" clId="{B3049AD4-F123-45CD-A07D-7CA62CE5BA63}"/>
    <pc:docChg chg="modSld">
      <pc:chgData name="komala shravya" userId="56914f952aaa9477" providerId="LiveId" clId="{B3049AD4-F123-45CD-A07D-7CA62CE5BA63}" dt="2026-10-07T07:37:51.926" v="5"/>
      <pc:docMkLst>
        <pc:docMk/>
      </pc:docMkLst>
      <pc:sldChg chg="addSp delSp modSp mod">
        <pc:chgData name="komala shravya" userId="56914f952aaa9477" providerId="LiveId" clId="{B3049AD4-F123-45CD-A07D-7CA62CE5BA63}" dt="2026-10-07T07:37:51.926" v="5"/>
        <pc:sldMkLst>
          <pc:docMk/>
          <pc:sldMk cId="0" sldId="256"/>
        </pc:sldMkLst>
        <pc:spChg chg="add del mod">
          <ac:chgData name="komala shravya" userId="56914f952aaa9477" providerId="LiveId" clId="{B3049AD4-F123-45CD-A07D-7CA62CE5BA63}" dt="2026-10-07T07:37:50.211" v="2"/>
          <ac:spMkLst>
            <pc:docMk/>
            <pc:sldMk cId="0" sldId="256"/>
            <ac:spMk id="29" creationId="{3045A803-BDB8-13EC-4AE2-C0DD85DCF1C8}"/>
          </ac:spMkLst>
        </pc:spChg>
        <pc:spChg chg="add del mod">
          <ac:chgData name="komala shravya" userId="56914f952aaa9477" providerId="LiveId" clId="{B3049AD4-F123-45CD-A07D-7CA62CE5BA63}" dt="2026-10-07T07:37:51.926" v="5"/>
          <ac:spMkLst>
            <pc:docMk/>
            <pc:sldMk cId="0" sldId="256"/>
            <ac:spMk id="30" creationId="{7E392A1A-E25F-D010-B41A-4C56C828645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226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idea: FileMind watches file access, predicts the next file, and preloads it into the page cache so the open is served from RAM instead of disk.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problem: OS caching is reactive. The first open of a file in a session goes to disk, and nothing learns which file a user tends to open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row briefly. The key contrast is preload: it is the closest existing Linux tool, but it predicts programs and shared libraries, not user documents.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answers the question 'how is this different from preload?'. Readahead works inside one file, preload predicts programs; FileMind predicts the next user file and measures how often it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 one file open end to end: the monitor records it, history and the analyser update, the predictor scores candidates, and the prefetcher issues posix_fadvise WILLNEED for the top prediction. Hits and misses feed back to the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two-stage model. The Markov table is cheap and learns quickly; the decision tree adds context such as time of day. The threshold tau keeps wrong prefetches rare.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likely examiner questions: what happens with no history, when habits change, with several users, and when a prediction is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evaluation repeatable: same workloads, caches dropped before each run, several runs averaged. W3 is deliberately unpredictable to show how FileMind behaves when there is no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come from bench/benchmark.py. Best practice: re-run ./run_all.sh on your own laptop before the review and rebuild this slide with those numbers. Lead with residency and disk reads: they do not depend on disk speed.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share of opens that found the file already in RAM. Right: top-1 hit rate, Markov-only vs Markov + decision tree (ablation). Point out W3 honestly: no pattern, so FileMind does almost nothing, which is the correct behaviour.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upfront about limitations scores well in evaluation. Tie each limitation to a next step where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live demo here: daemon in one terminal, demo/demo_session.sh in the other. Then demo/compare_open.py to show one file opening cold vs prefetched.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three takeaways. Quote your headline number here once results are filled in, e.g. 'X% of opens were served from RAM'.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References for the related-work slide and the main APIs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Keep the repo link on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FileMind  ·  Final Review (Review-3)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github.com/sr1-harsh/filemind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sr1-harsh/filemi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OPERATING SYSTEMS AND SYSTEM PROGRAMMING  ·  PBL FINAL REVIEW (REVIEW-3)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FileMind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2402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chemeClr val="bg2"/>
                </a:solidFill>
              </a:rPr>
              <a:t>Intelligent File Access Prediction System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AEB8C4"/>
                </a:solidFill>
              </a:rPr>
              <a:t>Learns how you open files, predicts the next one, and loads it into memory before you ask.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97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Komala Shravya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EB8C4"/>
                </a:solidFill>
              </a:rPr>
              <a:t>2510030123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4297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Manugula Sri Harshini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EB8C4"/>
                </a:solidFill>
              </a:rPr>
              <a:t>2510030139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29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Anil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EB8C4"/>
                </a:solidFill>
              </a:rPr>
              <a:t>2510030319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502920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Deekshith Reddy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AEB8C4"/>
                </a:solidFill>
              </a:rPr>
              <a:t>2510030389</a:t>
            </a:r>
            <a:endParaRPr lang="en-US" sz="1400" dirty="0"/>
          </a:p>
        </p:txBody>
      </p:sp>
      <p:sp>
        <p:nvSpPr>
          <p:cNvPr id="10" name="file tile"/>
          <p:cNvSpPr/>
          <p:nvPr/>
        </p:nvSpPr>
        <p:spPr>
          <a:xfrm>
            <a:off x="7406640" y="118872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380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D2DC"/>
                </a:solidFill>
              </a:rPr>
              <a:t>main.c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B9A"/>
                </a:solidFill>
              </a:rPr>
              <a:t>in history</a:t>
            </a:r>
            <a:endParaRPr lang="en-US" sz="1100" dirty="0"/>
          </a:p>
        </p:txBody>
      </p:sp>
      <p:sp>
        <p:nvSpPr>
          <p:cNvPr id="13" name="file tile"/>
          <p:cNvSpPr/>
          <p:nvPr/>
        </p:nvSpPr>
        <p:spPr>
          <a:xfrm>
            <a:off x="9509760" y="118872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646920" y="1325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D2DC"/>
                </a:solidFill>
              </a:rPr>
              <a:t>Makefile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18745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B9A"/>
                </a:solidFill>
              </a:rPr>
              <a:t>in history</a:t>
            </a:r>
            <a:endParaRPr lang="en-US" sz="1100" dirty="0"/>
          </a:p>
        </p:txBody>
      </p:sp>
      <p:sp>
        <p:nvSpPr>
          <p:cNvPr id="16" name="file tile"/>
          <p:cNvSpPr/>
          <p:nvPr/>
        </p:nvSpPr>
        <p:spPr>
          <a:xfrm>
            <a:off x="7406640" y="260604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D2DC"/>
                </a:solidFill>
              </a:rPr>
              <a:t>report.docx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B9A"/>
                </a:solidFill>
              </a:rPr>
              <a:t>in history</a:t>
            </a:r>
            <a:endParaRPr lang="en-US" sz="1100" dirty="0"/>
          </a:p>
        </p:txBody>
      </p:sp>
      <p:sp>
        <p:nvSpPr>
          <p:cNvPr id="19" name="file tile"/>
          <p:cNvSpPr/>
          <p:nvPr/>
        </p:nvSpPr>
        <p:spPr>
          <a:xfrm>
            <a:off x="9509760" y="2606040"/>
            <a:ext cx="1828800" cy="1143000"/>
          </a:xfrm>
          <a:prstGeom prst="roundRect">
            <a:avLst>
              <a:gd name="adj" fmla="val 96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46920" y="27432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data.csv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646920" y="329184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predicted next · p = 0.62</a:t>
            </a:r>
            <a:endParaRPr lang="en-US" sz="1100" dirty="0"/>
          </a:p>
        </p:txBody>
      </p:sp>
      <p:sp>
        <p:nvSpPr>
          <p:cNvPr id="22" name="file tile"/>
          <p:cNvSpPr/>
          <p:nvPr/>
        </p:nvSpPr>
        <p:spPr>
          <a:xfrm>
            <a:off x="7406640" y="402336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380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D2DC"/>
                </a:solidFill>
              </a:rPr>
              <a:t>notes.txt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543800" y="4709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B9A"/>
                </a:solidFill>
              </a:rPr>
              <a:t>in history</a:t>
            </a:r>
            <a:endParaRPr lang="en-US" sz="1100" dirty="0"/>
          </a:p>
        </p:txBody>
      </p:sp>
      <p:sp>
        <p:nvSpPr>
          <p:cNvPr id="25" name="file tile"/>
          <p:cNvSpPr/>
          <p:nvPr/>
        </p:nvSpPr>
        <p:spPr>
          <a:xfrm>
            <a:off x="9509760" y="4023360"/>
            <a:ext cx="1828800" cy="1143000"/>
          </a:xfrm>
          <a:prstGeom prst="roundRect">
            <a:avLst>
              <a:gd name="adj" fmla="val 9600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6920" y="41605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9D2DC"/>
                </a:solidFill>
              </a:rPr>
              <a:t>slides.pptx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46920" y="4709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D8B9A"/>
                </a:solidFill>
              </a:rPr>
              <a:t>in history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55321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/>
                </a:solidFill>
              </a:rPr>
              <a:t>Predict. Prefetch. Perform.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file open still waits on the disk</a:t>
            </a:r>
            <a:endParaRPr lang="en-US" sz="3200" dirty="0"/>
          </a:p>
        </p:txBody>
      </p:sp>
      <p:sp>
        <p:nvSpPr>
          <p:cNvPr id="3" name="icon circle"/>
          <p:cNvSpPr/>
          <p:nvPr/>
        </p:nvSpPr>
        <p:spPr>
          <a:xfrm>
            <a:off x="548640" y="13716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4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1569110"/>
            <a:ext cx="336499" cy="3364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3898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Higher access time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508760" y="1755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Files are fetched from disk only after the user asks for them.</a:t>
            </a:r>
            <a:endParaRPr lang="en-US" sz="1400" dirty="0"/>
          </a:p>
        </p:txBody>
      </p:sp>
      <p:sp>
        <p:nvSpPr>
          <p:cNvPr id="7" name="icon circle"/>
          <p:cNvSpPr/>
          <p:nvPr/>
        </p:nvSpPr>
        <p:spPr>
          <a:xfrm>
            <a:off x="548640" y="256032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8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50" y="2757830"/>
            <a:ext cx="336499" cy="33649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08760" y="25786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Unnecessary disk I/O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1508760" y="29443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same files are re-read again and again across sessions.</a:t>
            </a:r>
            <a:endParaRPr lang="en-US" sz="1400" dirty="0"/>
          </a:p>
        </p:txBody>
      </p:sp>
      <p:sp>
        <p:nvSpPr>
          <p:cNvPr id="11" name="icon circle"/>
          <p:cNvSpPr/>
          <p:nvPr/>
        </p:nvSpPr>
        <p:spPr>
          <a:xfrm>
            <a:off x="548640" y="37490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2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150" y="3946550"/>
            <a:ext cx="336499" cy="33649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08760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learning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1508760" y="4133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The OS does not learn an individual user's file habits.</a:t>
            </a:r>
            <a:endParaRPr lang="en-US" sz="1400" dirty="0"/>
          </a:p>
        </p:txBody>
      </p:sp>
      <p:sp>
        <p:nvSpPr>
          <p:cNvPr id="15" name="icon circle"/>
          <p:cNvSpPr/>
          <p:nvPr/>
        </p:nvSpPr>
        <p:spPr>
          <a:xfrm>
            <a:off x="548640" y="493776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6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50" y="5135270"/>
            <a:ext cx="336499" cy="33649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49560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look-ahead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53218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Caching is reactive: nothing anticipates the next file.</a:t>
            </a:r>
            <a:endParaRPr lang="en-US" sz="1400" dirty="0"/>
          </a:p>
        </p:txBody>
      </p:sp>
      <p:sp>
        <p:nvSpPr>
          <p:cNvPr id="19" name="traditional panel"/>
          <p:cNvSpPr/>
          <p:nvPr/>
        </p:nvSpPr>
        <p:spPr>
          <a:xfrm>
            <a:off x="6583680" y="1371600"/>
            <a:ext cx="5059375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6858000" y="155448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Traditional (reactive)</a:t>
            </a:r>
            <a:endParaRPr lang="en-US" sz="1600" dirty="0"/>
          </a:p>
        </p:txBody>
      </p:sp>
      <p:sp>
        <p:nvSpPr>
          <p:cNvPr id="21" name="flow step"/>
          <p:cNvSpPr/>
          <p:nvPr/>
        </p:nvSpPr>
        <p:spPr>
          <a:xfrm>
            <a:off x="6858000" y="205740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858000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Request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854696" y="2331720"/>
            <a:ext cx="150266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4" name="flow step"/>
          <p:cNvSpPr/>
          <p:nvPr/>
        </p:nvSpPr>
        <p:spPr>
          <a:xfrm>
            <a:off x="8041538" y="205740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041538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Search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9038234" y="2331720"/>
            <a:ext cx="150266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7" name="flow step"/>
          <p:cNvSpPr/>
          <p:nvPr/>
        </p:nvSpPr>
        <p:spPr>
          <a:xfrm>
            <a:off x="9225077" y="205740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9225077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Disk read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10221773" y="2331720"/>
            <a:ext cx="150266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30" name="flow step"/>
          <p:cNvSpPr/>
          <p:nvPr/>
        </p:nvSpPr>
        <p:spPr>
          <a:xfrm>
            <a:off x="10408615" y="205740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10408615" y="205740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Access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6858000" y="283464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User waits for the disk on every cold open</a:t>
            </a:r>
            <a:endParaRPr lang="en-US" sz="1300" dirty="0"/>
          </a:p>
        </p:txBody>
      </p:sp>
      <p:sp>
        <p:nvSpPr>
          <p:cNvPr id="33" name="filemind panel"/>
          <p:cNvSpPr/>
          <p:nvPr/>
        </p:nvSpPr>
        <p:spPr>
          <a:xfrm>
            <a:off x="6583680" y="3749040"/>
            <a:ext cx="5059375" cy="2148840"/>
          </a:xfrm>
          <a:prstGeom prst="roundRect">
            <a:avLst>
              <a:gd name="adj" fmla="val 5106"/>
            </a:avLst>
          </a:prstGeom>
          <a:solidFill>
            <a:schemeClr val="accent6"/>
          </a:solidFill>
          <a:ln/>
        </p:spPr>
      </p:sp>
      <p:sp>
        <p:nvSpPr>
          <p:cNvPr id="34" name="Text 28"/>
          <p:cNvSpPr txBox="1"/>
          <p:nvPr/>
        </p:nvSpPr>
        <p:spPr>
          <a:xfrm>
            <a:off x="6858000" y="393192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FileMind (proactive)</a:t>
            </a:r>
            <a:endParaRPr lang="en-US" sz="1600" dirty="0"/>
          </a:p>
        </p:txBody>
      </p:sp>
      <p:sp>
        <p:nvSpPr>
          <p:cNvPr id="35" name="flow step"/>
          <p:cNvSpPr/>
          <p:nvPr/>
        </p:nvSpPr>
        <p:spPr>
          <a:xfrm>
            <a:off x="6858000" y="443484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858000" y="44348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Observe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7854696" y="4709160"/>
            <a:ext cx="150266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38" name="flow step"/>
          <p:cNvSpPr/>
          <p:nvPr/>
        </p:nvSpPr>
        <p:spPr>
          <a:xfrm>
            <a:off x="8041538" y="443484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8041538" y="44348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Predict</a:t>
            </a:r>
            <a:endParaRPr lang="en-US" sz="1300" dirty="0"/>
          </a:p>
        </p:txBody>
      </p:sp>
      <p:sp>
        <p:nvSpPr>
          <p:cNvPr id="40" name="Shape 34"/>
          <p:cNvSpPr/>
          <p:nvPr/>
        </p:nvSpPr>
        <p:spPr>
          <a:xfrm>
            <a:off x="9038234" y="4709160"/>
            <a:ext cx="150266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41" name="flow step"/>
          <p:cNvSpPr/>
          <p:nvPr/>
        </p:nvSpPr>
        <p:spPr>
          <a:xfrm>
            <a:off x="9225077" y="443484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42" name="Text 36"/>
          <p:cNvSpPr txBox="1"/>
          <p:nvPr/>
        </p:nvSpPr>
        <p:spPr>
          <a:xfrm>
            <a:off x="9225077" y="44348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Prefetch</a:t>
            </a:r>
            <a:endParaRPr lang="en-US" sz="1300" dirty="0"/>
          </a:p>
        </p:txBody>
      </p:sp>
      <p:sp>
        <p:nvSpPr>
          <p:cNvPr id="43" name="Shape 37"/>
          <p:cNvSpPr/>
          <p:nvPr/>
        </p:nvSpPr>
        <p:spPr>
          <a:xfrm>
            <a:off x="10221773" y="4709160"/>
            <a:ext cx="150266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44" name="flow step"/>
          <p:cNvSpPr/>
          <p:nvPr/>
        </p:nvSpPr>
        <p:spPr>
          <a:xfrm>
            <a:off x="10408615" y="4434840"/>
            <a:ext cx="96012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10408615" y="4434840"/>
            <a:ext cx="960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1"/>
                </a:solidFill>
              </a:rPr>
              <a:t>Access</a:t>
            </a:r>
            <a:endParaRPr lang="en-US" sz="1300" dirty="0"/>
          </a:p>
        </p:txBody>
      </p:sp>
      <p:sp>
        <p:nvSpPr>
          <p:cNvPr id="46" name="Text 40"/>
          <p:cNvSpPr txBox="1"/>
          <p:nvPr/>
        </p:nvSpPr>
        <p:spPr>
          <a:xfrm>
            <a:off x="6858000" y="5212080"/>
            <a:ext cx="4510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2"/>
                </a:solidFill>
              </a:rPr>
              <a:t>Predicted file is already in RAM when opened</a:t>
            </a:r>
            <a:endParaRPr lang="en-US" sz="13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Related work and existing tools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04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Approach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What it predicts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Limitation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Linux readahead (kernel)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Detects sequential reads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Next blocks of the same file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Nothing across different files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Griffioen &amp; Appleton, 1994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Probability graph of file opens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Next file to be opened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Research prototype; fixed thresholds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Kroeger &amp; Long, 2001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Context modelling of access sequences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Next file sequence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Kernel patch, never mainstream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preload (Esfahbod, 2006)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Markov chain over running programs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Application binaries and libraries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Ignores user documents and data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Windows SuperFetch / SysMain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Usage history of applications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Applications at likely times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Closed source; app-level, not file-level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gap callout"/>
          <p:cNvSpPr/>
          <p:nvPr/>
        </p:nvSpPr>
        <p:spPr>
          <a:xfrm>
            <a:off x="548640" y="470916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accent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484632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Gap: </a:t>
            </a:r>
            <a:r>
              <a:rPr lang="en-US" sz="1600" dirty="0">
                <a:solidFill>
                  <a:schemeClr val="tx1"/>
                </a:solidFill>
              </a:rPr>
              <a:t>existing tools either prefetch within one file (readahead) or predict whole applications (preload, SuperFetch). None learns which user data file a person will open next and prefetches it with a measured hit rate.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FileMind adds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7498080" cy="39684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Page cache (LRU)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Readahead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preload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FileMind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Acts before the request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Predicts the next different file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20C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Targets user data files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20C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Learns per-user habits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20C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Uses sequence and time context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2A20C"/>
                          </a:solidFill>
                        </a:rPr>
                        <a:t>Partial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Tracks its own hit rate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9AA5B1"/>
                          </a:solidFill>
                        </a:rPr>
                        <a:t>No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E7C74"/>
                          </a:solidFill>
                        </a:rPr>
                        <a:t>Yes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novelty callout"/>
          <p:cNvSpPr/>
          <p:nvPr/>
        </p:nvSpPr>
        <p:spPr>
          <a:xfrm>
            <a:off x="8412480" y="1325880"/>
            <a:ext cx="3230575" cy="4526280"/>
          </a:xfrm>
          <a:prstGeom prst="roundRect">
            <a:avLst>
              <a:gd name="adj" fmla="val 3397"/>
            </a:avLst>
          </a:prstGeom>
          <a:solidFill>
            <a:schemeClr val="tx2"/>
          </a:solidFill>
          <a:ln/>
        </p:spPr>
      </p:sp>
      <p:sp>
        <p:nvSpPr>
          <p:cNvPr id="3" name="icon circle"/>
          <p:cNvSpPr/>
          <p:nvPr/>
        </p:nvSpPr>
        <p:spPr>
          <a:xfrm>
            <a:off x="868680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1966" y="1785366"/>
            <a:ext cx="315468" cy="3154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6868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Core novelty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686800" y="292608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5DCE3"/>
                </a:solidFill>
              </a:rPr>
              <a:t>Sequence-aware next-file prediction for user data files, personalised per user.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686800" y="4114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D5DCE3"/>
                </a:solidFill>
              </a:rPr>
              <a:t>Prefetching is gated by model confidence (τ) and capped at k files per open, so a wrong guess costs one wasted read, not a slowdown.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python lane"/>
          <p:cNvSpPr/>
          <p:nvPr/>
        </p:nvSpPr>
        <p:spPr>
          <a:xfrm>
            <a:off x="548640" y="1234440"/>
            <a:ext cx="11094415" cy="1691640"/>
          </a:xfrm>
          <a:prstGeom prst="roundRect">
            <a:avLst>
              <a:gd name="adj" fmla="val 5405"/>
            </a:avLst>
          </a:prstGeom>
          <a:solidFill>
            <a:schemeClr val="accent5"/>
          </a:solidFill>
          <a:ln/>
        </p:spPr>
      </p:sp>
      <p:sp>
        <p:nvSpPr>
          <p:cNvPr id="4" name="c lane"/>
          <p:cNvSpPr/>
          <p:nvPr/>
        </p:nvSpPr>
        <p:spPr>
          <a:xfrm>
            <a:off x="548640" y="3154680"/>
            <a:ext cx="11094415" cy="1691640"/>
          </a:xfrm>
          <a:prstGeom prst="roundRect">
            <a:avLst>
              <a:gd name="adj" fmla="val 5405"/>
            </a:avLst>
          </a:prstGeom>
          <a:solidFill>
            <a:schemeClr val="accent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tx1"/>
                </a:solidFill>
              </a:rPr>
              <a:t>ANALYSIS · 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chemeClr val="accent2"/>
                </a:solidFill>
              </a:rPr>
              <a:t>SYSTEM · C / Linux</a:t>
            </a:r>
            <a:endParaRPr lang="en-US" sz="1100" dirty="0"/>
          </a:p>
        </p:txBody>
      </p:sp>
      <p:sp>
        <p:nvSpPr>
          <p:cNvPr id="7" name="User / App"/>
          <p:cNvSpPr/>
          <p:nvPr/>
        </p:nvSpPr>
        <p:spPr>
          <a:xfrm>
            <a:off x="777240" y="3520440"/>
            <a:ext cx="16916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3630168"/>
            <a:ext cx="1417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User / App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opens files</a:t>
            </a:r>
            <a:endParaRPr lang="en-US" sz="1400" dirty="0"/>
          </a:p>
        </p:txBody>
      </p:sp>
      <p:sp>
        <p:nvSpPr>
          <p:cNvPr id="9" name="Access Monitor"/>
          <p:cNvSpPr/>
          <p:nvPr/>
        </p:nvSpPr>
        <p:spPr>
          <a:xfrm>
            <a:off x="2743200" y="3520440"/>
            <a:ext cx="21488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2880360" y="363016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 Access Monitor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inotify events (C)</a:t>
            </a:r>
            <a:endParaRPr lang="en-US" sz="1400" dirty="0"/>
          </a:p>
        </p:txBody>
      </p:sp>
      <p:sp>
        <p:nvSpPr>
          <p:cNvPr id="11" name="Access History"/>
          <p:cNvSpPr/>
          <p:nvPr/>
        </p:nvSpPr>
        <p:spPr>
          <a:xfrm>
            <a:off x="274320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880360" y="17556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2  Access History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time-stamped CSV log</a:t>
            </a:r>
            <a:endParaRPr lang="en-US" sz="1400" dirty="0"/>
          </a:p>
        </p:txBody>
      </p:sp>
      <p:sp>
        <p:nvSpPr>
          <p:cNvPr id="13" name="Pattern Analyser"/>
          <p:cNvSpPr/>
          <p:nvPr/>
        </p:nvSpPr>
        <p:spPr>
          <a:xfrm>
            <a:off x="534924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486400" y="17556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3  Pattern Analyser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Pandas: sequences, time</a:t>
            </a:r>
            <a:endParaRPr lang="en-US" sz="1400" dirty="0"/>
          </a:p>
        </p:txBody>
      </p:sp>
      <p:sp>
        <p:nvSpPr>
          <p:cNvPr id="15" name="Predictor"/>
          <p:cNvSpPr/>
          <p:nvPr/>
        </p:nvSpPr>
        <p:spPr>
          <a:xfrm>
            <a:off x="795528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092440" y="175564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4  Predictor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Markov + scikit-learn</a:t>
            </a:r>
            <a:endParaRPr lang="en-US" sz="1400" dirty="0"/>
          </a:p>
        </p:txBody>
      </p:sp>
      <p:sp>
        <p:nvSpPr>
          <p:cNvPr id="17" name="Prefetcher"/>
          <p:cNvSpPr/>
          <p:nvPr/>
        </p:nvSpPr>
        <p:spPr>
          <a:xfrm>
            <a:off x="7955280" y="3520440"/>
            <a:ext cx="2148840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092440" y="3630168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5  Prefetcher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posix_fadvise(WILLNEED)</a:t>
            </a:r>
            <a:endParaRPr lang="en-US" sz="1400" dirty="0"/>
          </a:p>
        </p:txBody>
      </p:sp>
      <p:sp>
        <p:nvSpPr>
          <p:cNvPr id="19" name="Page cache"/>
          <p:cNvSpPr/>
          <p:nvPr/>
        </p:nvSpPr>
        <p:spPr>
          <a:xfrm>
            <a:off x="10332720" y="3520440"/>
            <a:ext cx="1310335" cy="1051560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 w="9525">
            <a:solidFill>
              <a:srgbClr val="C9D2D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10469880" y="3630168"/>
            <a:ext cx="1036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Page cache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RAM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468880" y="4046220"/>
            <a:ext cx="274320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3817620" y="2697480"/>
            <a:ext cx="0" cy="82296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92040" y="2171700"/>
            <a:ext cx="457200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98080" y="2171700"/>
            <a:ext cx="457200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29700" y="2697480"/>
            <a:ext cx="0" cy="82296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104120" y="4046220"/>
            <a:ext cx="228600" cy="0"/>
          </a:xfrm>
          <a:prstGeom prst="line">
            <a:avLst/>
          </a:prstGeom>
          <a:noFill/>
          <a:ln w="22225">
            <a:solidFill>
              <a:srgbClr val="5B68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972800" y="4572000"/>
            <a:ext cx="0" cy="548640"/>
          </a:xfrm>
          <a:prstGeom prst="line">
            <a:avLst/>
          </a:prstGeom>
          <a:noFill/>
          <a:ln w="22225">
            <a:solidFill>
              <a:srgbClr val="0E7C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23060" y="5120640"/>
            <a:ext cx="9349740" cy="0"/>
          </a:xfrm>
          <a:prstGeom prst="line">
            <a:avLst/>
          </a:prstGeom>
          <a:noFill/>
          <a:ln w="22225">
            <a:solidFill>
              <a:srgbClr val="0E7C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1623060" y="4572000"/>
            <a:ext cx="0" cy="548640"/>
          </a:xfrm>
          <a:prstGeom prst="line">
            <a:avLst/>
          </a:prstGeom>
          <a:noFill/>
          <a:ln w="22225">
            <a:solidFill>
              <a:srgbClr val="0E7C74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931920" y="5193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Next open is served from RAM: no disk wait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0972800" y="2171700"/>
            <a:ext cx="0" cy="1325880"/>
          </a:xfrm>
          <a:prstGeom prst="line">
            <a:avLst/>
          </a:prstGeom>
          <a:noFill/>
          <a:ln w="19050">
            <a:solidFill>
              <a:srgbClr val="F2A20C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 flipH="1">
            <a:off x="10104120" y="2171700"/>
            <a:ext cx="868680" cy="0"/>
          </a:xfrm>
          <a:prstGeom prst="line">
            <a:avLst/>
          </a:prstGeom>
          <a:noFill/>
          <a:ln w="19050">
            <a:solidFill>
              <a:srgbClr val="F2A20C"/>
            </a:solidFill>
            <a:prstDash val="dash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0195560" y="178308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b="1" dirty="0">
                <a:solidFill>
                  <a:schemeClr val="tx1"/>
                </a:solidFill>
              </a:rPr>
              <a:t>hit / miss feedback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56235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WILLNEED asks the kernel to load the file into the page cache in the background; the pages stay evictable, so a wrong prediction never blocks the user.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next file is predicted</a:t>
            </a:r>
            <a:endParaRPr lang="en-US" sz="3200" dirty="0"/>
          </a:p>
        </p:txBody>
      </p:sp>
      <p:sp>
        <p:nvSpPr>
          <p:cNvPr id="3" name="step number"/>
          <p:cNvSpPr/>
          <p:nvPr/>
        </p:nvSpPr>
        <p:spPr>
          <a:xfrm>
            <a:off x="548640" y="1325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307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Markov transitions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6550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Count how often file B follows file A for this user; P(B | A) = count(A→B) / count(A).</a:t>
            </a:r>
            <a:endParaRPr lang="en-US" sz="1400" dirty="0"/>
          </a:p>
        </p:txBody>
      </p:sp>
      <p:sp>
        <p:nvSpPr>
          <p:cNvPr id="7" name="step number"/>
          <p:cNvSpPr/>
          <p:nvPr/>
        </p:nvSpPr>
        <p:spPr>
          <a:xfrm>
            <a:off x="548640" y="2468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468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450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Context classifier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7980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A decision tree (scikit-learn) re-ranks candidates using the hour of day.</a:t>
            </a:r>
            <a:endParaRPr lang="en-US" sz="1400" dirty="0"/>
          </a:p>
        </p:txBody>
      </p:sp>
      <p:sp>
        <p:nvSpPr>
          <p:cNvPr id="11" name="step number"/>
          <p:cNvSpPr/>
          <p:nvPr/>
        </p:nvSpPr>
        <p:spPr>
          <a:xfrm>
            <a:off x="548640" y="3611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593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Confidence gate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9410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Prefetch at most k = 2 files, and only those with score ≥ τ = 0.30.</a:t>
            </a:r>
            <a:endParaRPr lang="en-US" sz="1400" dirty="0"/>
          </a:p>
        </p:txBody>
      </p:sp>
      <p:sp>
        <p:nvSpPr>
          <p:cNvPr id="15" name="step number"/>
          <p:cNvSpPr/>
          <p:nvPr/>
        </p:nvSpPr>
        <p:spPr>
          <a:xfrm>
            <a:off x="548640" y="4754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2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7365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Online update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084064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open updates the counts; the classifier retrains in the background.</a:t>
            </a:r>
            <a:endParaRPr lang="en-US" sz="1400" dirty="0"/>
          </a:p>
        </p:txBody>
      </p:sp>
      <p:sp>
        <p:nvSpPr>
          <p:cNvPr id="19" name="example"/>
          <p:cNvSpPr/>
          <p:nvPr/>
        </p:nvSpPr>
        <p:spPr>
          <a:xfrm>
            <a:off x="6675120" y="1325880"/>
            <a:ext cx="4967935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49440" y="1463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Example: after opening main.c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19659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Makefile</a:t>
            </a:r>
            <a:endParaRPr lang="en-US" sz="1400" dirty="0"/>
          </a:p>
        </p:txBody>
      </p:sp>
      <p:sp>
        <p:nvSpPr>
          <p:cNvPr id="22" name="prob bar"/>
          <p:cNvSpPr/>
          <p:nvPr/>
        </p:nvSpPr>
        <p:spPr>
          <a:xfrm>
            <a:off x="8229600" y="2039112"/>
            <a:ext cx="2563368" cy="2377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884408" y="19659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0.58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949440" y="251460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main.h</a:t>
            </a:r>
            <a:endParaRPr lang="en-US" sz="1400" dirty="0"/>
          </a:p>
        </p:txBody>
      </p:sp>
      <p:sp>
        <p:nvSpPr>
          <p:cNvPr id="25" name="prob bar"/>
          <p:cNvSpPr/>
          <p:nvPr/>
        </p:nvSpPr>
        <p:spPr>
          <a:xfrm>
            <a:off x="8229600" y="2587752"/>
            <a:ext cx="1060704" cy="237744"/>
          </a:xfrm>
          <a:prstGeom prst="rect">
            <a:avLst/>
          </a:prstGeom>
          <a:solidFill>
            <a:srgbClr val="B8C2C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81744" y="25146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0.24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306324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notes.txt</a:t>
            </a:r>
            <a:endParaRPr lang="en-US" sz="1400" dirty="0"/>
          </a:p>
        </p:txBody>
      </p:sp>
      <p:sp>
        <p:nvSpPr>
          <p:cNvPr id="28" name="prob bar"/>
          <p:cNvSpPr/>
          <p:nvPr/>
        </p:nvSpPr>
        <p:spPr>
          <a:xfrm>
            <a:off x="8229600" y="3136392"/>
            <a:ext cx="486156" cy="237744"/>
          </a:xfrm>
          <a:prstGeom prst="rect">
            <a:avLst/>
          </a:prstGeom>
          <a:solidFill>
            <a:srgbClr val="B8C2CC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807196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0.11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949440" y="35204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τ = 0.30 → only Makefile is prefetched (illustrative values)</a:t>
            </a:r>
            <a:endParaRPr lang="en-US" sz="1100" dirty="0"/>
          </a:p>
        </p:txBody>
      </p:sp>
      <p:sp>
        <p:nvSpPr>
          <p:cNvPr id="31" name="features"/>
          <p:cNvSpPr/>
          <p:nvPr/>
        </p:nvSpPr>
        <p:spPr>
          <a:xfrm>
            <a:off x="6675120" y="4069080"/>
            <a:ext cx="4967935" cy="1874520"/>
          </a:xfrm>
          <a:prstGeom prst="roundRect">
            <a:avLst>
              <a:gd name="adj" fmla="val 5854"/>
            </a:avLst>
          </a:prstGeom>
          <a:solidFill>
            <a:schemeClr val="accent5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949440" y="42062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Features used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949440" y="4572000"/>
            <a:ext cx="4480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Current file and previous file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Hour of day</a:t>
            </a:r>
            <a:endParaRPr lang="en-US" sz="14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Chosen over larger sets (weekday, gap, folder) that predicted worse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adapt</a:t>
            </a:r>
            <a:endParaRPr lang="en-US" sz="3200" dirty="0"/>
          </a:p>
        </p:txBody>
      </p:sp>
      <p:sp>
        <p:nvSpPr>
          <p:cNvPr id="3" name="Cold start"/>
          <p:cNvSpPr/>
          <p:nvPr/>
        </p:nvSpPr>
        <p:spPr>
          <a:xfrm>
            <a:off x="548640" y="132588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22960" y="16002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782" y="177302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709928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Cold start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Falls back to recently used files in the same directory until enough history exists.</a:t>
            </a:r>
            <a:endParaRPr lang="en-US" sz="1400" dirty="0"/>
          </a:p>
        </p:txBody>
      </p:sp>
      <p:sp>
        <p:nvSpPr>
          <p:cNvPr id="8" name="Changing habits"/>
          <p:cNvSpPr/>
          <p:nvPr/>
        </p:nvSpPr>
        <p:spPr>
          <a:xfrm>
            <a:off x="4338218" y="132588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9" name="icon circle"/>
          <p:cNvSpPr/>
          <p:nvPr/>
        </p:nvSpPr>
        <p:spPr>
          <a:xfrm>
            <a:off x="4612538" y="16002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360" y="177302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89778" y="1709928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Changing habits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12538" y="2423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Old transitions decay over time, so new routines take over within a few sessions.</a:t>
            </a:r>
            <a:endParaRPr lang="en-US" sz="1400" dirty="0"/>
          </a:p>
        </p:txBody>
      </p:sp>
      <p:sp>
        <p:nvSpPr>
          <p:cNvPr id="13" name="Multiple users"/>
          <p:cNvSpPr/>
          <p:nvPr/>
        </p:nvSpPr>
        <p:spPr>
          <a:xfrm>
            <a:off x="8127797" y="132588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4" name="icon circle"/>
          <p:cNvSpPr/>
          <p:nvPr/>
        </p:nvSpPr>
        <p:spPr>
          <a:xfrm>
            <a:off x="8402117" y="16002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15" name="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4938" y="1773022"/>
            <a:ext cx="294437" cy="29443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179357" y="1709928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Multiple users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402117" y="24231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Each user runs their own FileMind with their own log and model; no habits leak between users.</a:t>
            </a:r>
            <a:endParaRPr lang="en-US" sz="1400" dirty="0"/>
          </a:p>
        </p:txBody>
      </p:sp>
      <p:sp>
        <p:nvSpPr>
          <p:cNvPr id="18" name="Wrong predictions"/>
          <p:cNvSpPr/>
          <p:nvPr/>
        </p:nvSpPr>
        <p:spPr>
          <a:xfrm>
            <a:off x="548640" y="384048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19" name="icon circle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0" name="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782" y="4287622"/>
            <a:ext cx="294437" cy="29443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00200" y="4224528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Wrong predictions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49377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Confidence gate τ and at most k files per open; prefetched pages stay evictable.</a:t>
            </a:r>
            <a:endParaRPr lang="en-US" sz="1400" dirty="0"/>
          </a:p>
        </p:txBody>
      </p:sp>
      <p:sp>
        <p:nvSpPr>
          <p:cNvPr id="23" name="Low overhead"/>
          <p:cNvSpPr/>
          <p:nvPr/>
        </p:nvSpPr>
        <p:spPr>
          <a:xfrm>
            <a:off x="4338218" y="384048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4" name="icon circle"/>
          <p:cNvSpPr/>
          <p:nvPr/>
        </p:nvSpPr>
        <p:spPr>
          <a:xfrm>
            <a:off x="4612538" y="4114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25" name="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5360" y="4287622"/>
            <a:ext cx="294437" cy="29443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5389778" y="4224528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Low overhead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12538" y="49377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Monitor in C; a prediction takes about 0.6 ms and runs after the open, never before it.</a:t>
            </a:r>
            <a:endParaRPr lang="en-US" sz="1400" dirty="0"/>
          </a:p>
        </p:txBody>
      </p:sp>
      <p:sp>
        <p:nvSpPr>
          <p:cNvPr id="28" name="Portable"/>
          <p:cNvSpPr/>
          <p:nvPr/>
        </p:nvSpPr>
        <p:spPr>
          <a:xfrm>
            <a:off x="8127797" y="3840480"/>
            <a:ext cx="3515258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/>
        </p:spPr>
      </p:sp>
      <p:sp>
        <p:nvSpPr>
          <p:cNvPr id="29" name="icon circle"/>
          <p:cNvSpPr/>
          <p:nvPr/>
        </p:nvSpPr>
        <p:spPr>
          <a:xfrm>
            <a:off x="8402117" y="4114800"/>
            <a:ext cx="640080" cy="640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0" name="icon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4938" y="4287622"/>
            <a:ext cx="294437" cy="294437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9179357" y="4224528"/>
            <a:ext cx="2235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Portable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402117" y="4937760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</a:rPr>
              <a:t>Standard Linux system calls only (inotify, posix_fadvise, mincore); no kernel patch, no root.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evaluated FileMind</a:t>
            </a:r>
            <a:endParaRPr lang="en-US" sz="3200" dirty="0"/>
          </a:p>
        </p:txBody>
      </p:sp>
      <p:sp>
        <p:nvSpPr>
          <p:cNvPr id="3" name="Workloads"/>
          <p:cNvSpPr/>
          <p:nvPr/>
        </p:nvSpPr>
        <p:spPr>
          <a:xfrm>
            <a:off x="548640" y="132588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08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Workloads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11680"/>
            <a:ext cx="29666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W1  Coding session: edit, compile, run cycles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W2  Document workflow: reports, data, slides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W3  Random access: stress test with no pattern</a:t>
            </a:r>
            <a:endParaRPr lang="en-US" sz="1400" dirty="0"/>
          </a:p>
        </p:txBody>
      </p:sp>
      <p:sp>
        <p:nvSpPr>
          <p:cNvPr id="6" name="Baselines"/>
          <p:cNvSpPr/>
          <p:nvPr/>
        </p:nvSpPr>
        <p:spPr>
          <a:xfrm>
            <a:off x="4338218" y="132588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612538" y="1508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Baselines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612538" y="2011680"/>
            <a:ext cx="29666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B0  Cold cache (caches dropped)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B1  Linux default: page cache + readahead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B2  FileMind prefetching on top of B1</a:t>
            </a:r>
            <a:endParaRPr lang="en-US" sz="1400" dirty="0"/>
          </a:p>
        </p:txBody>
      </p:sp>
      <p:sp>
        <p:nvSpPr>
          <p:cNvPr id="9" name="Metrics"/>
          <p:cNvSpPr/>
          <p:nvPr/>
        </p:nvSpPr>
        <p:spPr>
          <a:xfrm>
            <a:off x="8127797" y="1325880"/>
            <a:ext cx="3515258" cy="292608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02117" y="150876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Metrics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402117" y="2011680"/>
            <a:ext cx="296661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Top-1 and top-3 prediction hit rate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Mean file-open latency (ms)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Disk reads (from /proc/diskstats)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CPU and memory overhead</a:t>
            </a:r>
            <a:endParaRPr lang="en-US" sz="1400" dirty="0"/>
          </a:p>
        </p:txBody>
      </p:sp>
      <p:sp>
        <p:nvSpPr>
          <p:cNvPr id="12" name="procedure"/>
          <p:cNvSpPr/>
          <p:nvPr/>
        </p:nvSpPr>
        <p:spPr>
          <a:xfrm>
            <a:off x="548640" y="4526280"/>
            <a:ext cx="11094415" cy="128016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526280"/>
            <a:ext cx="1054577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Procedure  </a:t>
            </a:r>
            <a:r>
              <a:rPr lang="en-US" sz="1500" dirty="0">
                <a:solidFill>
                  <a:schemeClr val="bg1"/>
                </a:solidFill>
              </a:rPr>
              <a:t>Train on 70% of sessions, test on 30%. Files are evicted with posix_fadvise(DONTNEED) to start cold; 80 ms think time between opens; 3 runs, mean reported.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coding workload (W1)</a:t>
            </a:r>
            <a:endParaRPr lang="en-US" sz="3200" dirty="0"/>
          </a:p>
        </p:txBody>
      </p:sp>
      <p:sp>
        <p:nvSpPr>
          <p:cNvPr id="3" name="Opens served from RAM"/>
          <p:cNvSpPr/>
          <p:nvPr/>
        </p:nvSpPr>
        <p:spPr>
          <a:xfrm>
            <a:off x="548640" y="1325880"/>
            <a:ext cx="3515258" cy="1737360"/>
          </a:xfrm>
          <a:prstGeom prst="roundRect">
            <a:avLst>
              <a:gd name="adj" fmla="val 6316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Opens served from RAM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vs 69% with the Linux default</a:t>
            </a:r>
            <a:endParaRPr lang="en-US" sz="1200" dirty="0"/>
          </a:p>
        </p:txBody>
      </p:sp>
      <p:sp>
        <p:nvSpPr>
          <p:cNvPr id="7" name="Disk reads while waiting"/>
          <p:cNvSpPr/>
          <p:nvPr/>
        </p:nvSpPr>
        <p:spPr>
          <a:xfrm>
            <a:off x="4338218" y="1325880"/>
            <a:ext cx="351525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2538" y="14173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−69%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22402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Disk reads while waiting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6060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668 MB → 208 MB vs Linux default</a:t>
            </a:r>
            <a:endParaRPr lang="en-US" sz="1200" dirty="0"/>
          </a:p>
        </p:txBody>
      </p:sp>
      <p:sp>
        <p:nvSpPr>
          <p:cNvPr id="11" name="Top-1 hit rate"/>
          <p:cNvSpPr/>
          <p:nvPr/>
        </p:nvSpPr>
        <p:spPr>
          <a:xfrm>
            <a:off x="8127797" y="1325880"/>
            <a:ext cx="3515258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02117" y="1417320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224028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Top-1 hit rate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60604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next file predicted correctly; top-3: 96%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91840"/>
          <a:ext cx="11094415" cy="2286000"/>
        </p:xfrm>
        <a:graphic>
          <a:graphicData uri="http://schemas.openxmlformats.org/drawingml/2006/table">
            <a:tbl>
              <a:tblPr/>
              <a:tblGrid>
                <a:gridCol w="34134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W1 metric (mean of 3 runs, 240 opens)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B0 Cold cache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B1 Linux default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5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B2 FileMind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Opens served from RAM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69%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90%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Mean open + read latency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4.27 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3.13 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2.77 ms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Disk reads on user's path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2278 MB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668 MB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208 MB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Prediction time / model size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C2530"/>
                          </a:solidFill>
                        </a:rPr>
                        <a:t>n/a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C2530"/>
                          </a:solidFill>
                        </a:rPr>
                        <a:t>0.58 ms / 2.2 KB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1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4"/>
                </a:solidFill>
              </a:rPr>
              <a:t>Measured on a Linux 6.18.44 cloud VM with a very fast virtual disk, so the latency gain (−11%) is understated; on a laptop SSD or HDD the gap is larger.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across all three workloads</a:t>
            </a:r>
            <a:endParaRPr lang="en-US" sz="3200" dirty="0"/>
          </a:p>
        </p:txBody>
      </p:sp>
      <p:pic>
        <p:nvPicPr>
          <p:cNvPr id="3" name="chart served from RAM" descr="/home/claude/filemind/results/chart_served_from_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5364328" cy="3004023"/>
          </a:xfrm>
          <a:prstGeom prst="rect">
            <a:avLst/>
          </a:prstGeom>
        </p:spPr>
      </p:pic>
      <p:pic>
        <p:nvPicPr>
          <p:cNvPr id="4" name="chart hit rate" descr="/home/claude/filemind/results/chart_hit_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1280160"/>
            <a:ext cx="5364328" cy="300402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512783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Patterned work benefits most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W1 and W2: 69–71% → 90–92% of opens served from RAM.</a:t>
            </a:r>
            <a:endParaRPr lang="en-US" sz="1400" dirty="0"/>
          </a:p>
        </p:txBody>
      </p:sp>
      <p:sp>
        <p:nvSpPr>
          <p:cNvPr id="6" name="Text 2"/>
          <p:cNvSpPr txBox="1"/>
          <p:nvPr/>
        </p:nvSpPr>
        <p:spPr>
          <a:xfrm>
            <a:off x="4338218" y="4512783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decision tree earns its place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In W2 the next step depends on the time of day: Markov only 68% → with the tree 78%.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8127797" y="4512783"/>
            <a:ext cx="35152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Stays out of the way on random access</a:t>
            </a:r>
            <a:endParaRPr lang="en-US" sz="1400" dirty="0"/>
          </a:p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W3 has no pattern (hit rate 4%); the confidence gate keeps prefetching low.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and future work</a:t>
            </a:r>
            <a:endParaRPr lang="en-US" sz="3200" dirty="0"/>
          </a:p>
        </p:txBody>
      </p:sp>
      <p:sp>
        <p:nvSpPr>
          <p:cNvPr id="3" name="limitations"/>
          <p:cNvSpPr/>
          <p:nvPr/>
        </p:nvSpPr>
        <p:spPr>
          <a:xfrm>
            <a:off x="548640" y="1325880"/>
            <a:ext cx="5364328" cy="3246120"/>
          </a:xfrm>
          <a:prstGeom prst="roundRect">
            <a:avLst>
              <a:gd name="adj" fmla="val 3380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7" y="1714957"/>
            <a:ext cx="273406" cy="27340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64592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Where it struggles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423160"/>
            <a:ext cx="48156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Random or one-off access (W3) gives little to predict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First session for a new user starts with an empty model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Wrong guesses waste disk bandwidth (~950 MB of 2.6 GB prefetched in W1)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Benefit is small on fast NVMe drives with warm caches</a:t>
            </a:r>
            <a:endParaRPr lang="en-US" sz="1500" dirty="0"/>
          </a:p>
        </p:txBody>
      </p:sp>
      <p:sp>
        <p:nvSpPr>
          <p:cNvPr id="8" name="future"/>
          <p:cNvSpPr/>
          <p:nvPr/>
        </p:nvSpPr>
        <p:spPr>
          <a:xfrm>
            <a:off x="6278728" y="1325880"/>
            <a:ext cx="5364328" cy="3246120"/>
          </a:xfrm>
          <a:prstGeom prst="roundRect">
            <a:avLst>
              <a:gd name="adj" fmla="val 3380"/>
            </a:avLst>
          </a:prstGeom>
          <a:solidFill>
            <a:schemeClr val="accent6"/>
          </a:solidFill>
          <a:ln/>
        </p:spPr>
      </p:sp>
      <p:sp>
        <p:nvSpPr>
          <p:cNvPr id="9" name="icon circle"/>
          <p:cNvSpPr/>
          <p:nvPr/>
        </p:nvSpPr>
        <p:spPr>
          <a:xfrm>
            <a:off x="6553048" y="1554480"/>
            <a:ext cx="594360" cy="59436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25" y="1714957"/>
            <a:ext cx="273406" cy="27340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30288" y="1645920"/>
            <a:ext cx="408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Next steps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553048" y="2423160"/>
            <a:ext cx="481568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eBPF-based monitoring for lower capture overhead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Sequence models (e.g. LSTM) for longer access patterns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Adaptive threshold τ tuned from live hit rate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Desktop integration: prefetch at login and app launch</a:t>
            </a:r>
            <a:endParaRPr lang="en-US" sz="1500" dirty="0"/>
          </a:p>
        </p:txBody>
      </p:sp>
      <p:sp>
        <p:nvSpPr>
          <p:cNvPr id="13" name="takeaway"/>
          <p:cNvSpPr/>
          <p:nvPr/>
        </p:nvSpPr>
        <p:spPr>
          <a:xfrm>
            <a:off x="548640" y="4800600"/>
            <a:ext cx="11094415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22960" y="480060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Takeaway  </a:t>
            </a:r>
            <a:r>
              <a:rPr lang="en-US" sz="1600" dirty="0">
                <a:solidFill>
                  <a:schemeClr val="bg1"/>
                </a:solidFill>
              </a:rPr>
              <a:t>FileMind helps most on repetitive workflows (W1, W2); on random access it should simply stay out of the way.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and live demo</a:t>
            </a:r>
            <a:endParaRPr lang="en-US" sz="3200" dirty="0"/>
          </a:p>
        </p:txBody>
      </p:sp>
      <p:sp>
        <p:nvSpPr>
          <p:cNvPr id="3" name="source code"/>
          <p:cNvSpPr/>
          <p:nvPr/>
        </p:nvSpPr>
        <p:spPr>
          <a:xfrm>
            <a:off x="548640" y="1325880"/>
            <a:ext cx="11094415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icon circle"/>
          <p:cNvSpPr/>
          <p:nvPr/>
        </p:nvSpPr>
        <p:spPr>
          <a:xfrm>
            <a:off x="822960" y="1600200"/>
            <a:ext cx="731520" cy="73152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5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79771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1600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Source code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u="sng" dirty="0">
                <a:solidFill>
                  <a:schemeClr val="accent2"/>
                </a:solidFill>
                <a:hlinkClick r:id="rId4" tooltip="https://github.com/sr1-harsh/filemin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github.com/sr1-harsh/filemind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24688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README with build, demo and benchmark steps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1600200"/>
            <a:ext cx="50593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C: access monitor (inotify) and prefetcher (posix_fadvise)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Python: Markov + decision-tree predictor, live daemon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Benchmark: 3 workloads × 3 baselines, charts and tables</a:t>
            </a:r>
            <a:endParaRPr lang="en-US" sz="1400" dirty="0"/>
          </a:p>
        </p:txBody>
      </p:sp>
      <p:sp>
        <p:nvSpPr>
          <p:cNvPr id="10" name="run steps"/>
          <p:cNvSpPr/>
          <p:nvPr/>
        </p:nvSpPr>
        <p:spPr>
          <a:xfrm>
            <a:off x="548640" y="3703320"/>
            <a:ext cx="11094415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Run it yourself  (Ubuntu or WSL2)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297680"/>
            <a:ext cx="1054577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make &amp;&amp; python3 bench/gen_workload.py         # build C tools, create demo workspace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python3 -m filemind.daemon --watch workspace  # live: predict + prefetch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./demo/demo_session.sh                       # (2nd terminal) simulated user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6EB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./run_all.sh                                 # full benchmark + charts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Reactive to proactive"/>
          <p:cNvSpPr/>
          <p:nvPr/>
        </p:nvSpPr>
        <p:spPr>
          <a:xfrm>
            <a:off x="548640" y="17373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Reactive to proactive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2DC"/>
                </a:solidFill>
              </a:rPr>
              <a:t>FileMind turns file access from wait-then-read into predict-then-prefetch.</a:t>
            </a:r>
            <a:endParaRPr lang="en-US" sz="1500" dirty="0"/>
          </a:p>
        </p:txBody>
      </p:sp>
      <p:sp>
        <p:nvSpPr>
          <p:cNvPr id="7" name="Measured, not assumed"/>
          <p:cNvSpPr/>
          <p:nvPr/>
        </p:nvSpPr>
        <p:spPr>
          <a:xfrm>
            <a:off x="4343400" y="17373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772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743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Measured, not assumed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3246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2DC"/>
                </a:solidFill>
              </a:rPr>
              <a:t>Up to 92% of opens served from RAM and −69% disk reads vs the Linux default.</a:t>
            </a:r>
            <a:endParaRPr lang="en-US" sz="1500" dirty="0"/>
          </a:p>
        </p:txBody>
      </p:sp>
      <p:sp>
        <p:nvSpPr>
          <p:cNvPr id="11" name="Cheap when wrong"/>
          <p:cNvSpPr/>
          <p:nvPr/>
        </p:nvSpPr>
        <p:spPr>
          <a:xfrm>
            <a:off x="8138160" y="17373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1F2C38"/>
          </a:solidFill>
          <a:ln w="12700">
            <a:solidFill>
              <a:srgbClr val="34475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19202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27432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Cheap when wrong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3246120"/>
            <a:ext cx="2971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2DC"/>
                </a:solidFill>
              </a:rPr>
              <a:t>Confidence gating and evictable prefetches keep the cost of a miss small.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i="1" dirty="0">
                <a:solidFill>
                  <a:schemeClr val="accent1"/>
                </a:solidFill>
              </a:rPr>
              <a:t>Predict. Prefetch. Perform.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10944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J. Griffioen and R. Appleton, "Reducing File System Latency using a Predictive Approach," Proc. USENIX Summer Technical Conference, 1994.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T. M. Kroeger and D. D. E. Long, "Design and Implementation of a Predictive File Prefetching Algorithm," Proc. USENIX Annual Technical Conference, 2001.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B. Esfahbod, "Preload: An Adaptive Prefetching Daemon," M.Sc. thesis, University of Toronto, 2006.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Linux man-pages: inotify(7), posix_fadvise(2), mincore(2), readahead(2).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Font typeface="+mj-lt"/>
              <a:buAutoNum type="arabicPeriod"/>
            </a:pPr>
            <a:r>
              <a:rPr lang="en-US" sz="1500" dirty="0">
                <a:solidFill>
                  <a:schemeClr val="tx1"/>
                </a:solidFill>
              </a:rPr>
              <a:t>F. Pedregosa et al., "Scikit-learn: Machine Learning in Python," Journal of Machine Learning Research, 12, 2011.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chemeClr val="accent1"/>
                </a:solidFill>
              </a:rPr>
              <a:t>Questions?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576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2DC"/>
                </a:solidFill>
              </a:rPr>
              <a:t>Komala Shravya  ·  2510030123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2DC"/>
                </a:solidFill>
              </a:rPr>
              <a:t>Manugula Sri Harshini  ·  2510030139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2DC"/>
                </a:solidFill>
              </a:rPr>
              <a:t>Anil  ·  2510030319</a:t>
            </a:r>
            <a:endParaRPr lang="en-US" sz="16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C9D2DC"/>
                </a:solidFill>
              </a:rPr>
              <a:t>Deekshith Reddy  ·  2510030389</a:t>
            </a:r>
            <a:endParaRPr lang="en-US" sz="1600" dirty="0"/>
          </a:p>
        </p:txBody>
      </p:sp>
      <p:sp>
        <p:nvSpPr>
          <p:cNvPr id="5" name="icon circle"/>
          <p:cNvSpPr/>
          <p:nvPr/>
        </p:nvSpPr>
        <p:spPr>
          <a:xfrm>
            <a:off x="7680960" y="3703320"/>
            <a:ext cx="640080" cy="640080"/>
          </a:xfrm>
          <a:prstGeom prst="ellipse">
            <a:avLst/>
          </a:prstGeom>
          <a:solidFill>
            <a:srgbClr val="1F2C38"/>
          </a:solidFill>
          <a:ln/>
        </p:spPr>
      </p:sp>
      <p:pic>
        <p:nvPicPr>
          <p:cNvPr id="6" name="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3782" y="38761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503920" y="370332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Code and demo</a:t>
            </a:r>
            <a:endParaRPr lang="en-US" sz="1500" dirty="0"/>
          </a:p>
          <a:p>
            <a:pPr marL="0" indent="0">
              <a:buNone/>
            </a:pPr>
            <a:r>
              <a:rPr lang="en-US" sz="1500" u="sng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github.com/sr1-harsh/filemind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leMind">
  <a:themeElements>
    <a:clrScheme name="FileMind">
      <a:dk1>
        <a:srgbClr val="1C2530"/>
      </a:dk1>
      <a:lt1>
        <a:srgbClr val="FFFFFF"/>
      </a:lt1>
      <a:dk2>
        <a:srgbClr val="101820"/>
      </a:dk2>
      <a:lt2>
        <a:srgbClr val="F1F4F7"/>
      </a:lt2>
      <a:accent1>
        <a:srgbClr val="F2A20C"/>
      </a:accent1>
      <a:accent2>
        <a:srgbClr val="0E7C74"/>
      </a:accent2>
      <a:accent3>
        <a:srgbClr val="C2410C"/>
      </a:accent3>
      <a:accent4>
        <a:srgbClr val="5B6878"/>
      </a:accent4>
      <a:accent5>
        <a:srgbClr val="FDF0D3"/>
      </a:accent5>
      <a:accent6>
        <a:srgbClr val="DCF1EE"/>
      </a:accent6>
      <a:hlink>
        <a:srgbClr val="0E7C74"/>
      </a:hlink>
      <a:folHlink>
        <a:srgbClr val="5B6878"/>
      </a:folHlink>
    </a:clrScheme>
    <a:fontScheme name="FileMind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2127</Words>
  <Application>Microsoft Office PowerPoint</Application>
  <PresentationFormat>Widescreen</PresentationFormat>
  <Paragraphs>313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FileMind</vt:lpstr>
      <vt:lpstr>PowerPoint Presentation</vt:lpstr>
      <vt:lpstr>Every file open still waits on the disk</vt:lpstr>
      <vt:lpstr>Related work and existing tools</vt:lpstr>
      <vt:lpstr>What FileMind adds</vt:lpstr>
      <vt:lpstr>System architecture</vt:lpstr>
      <vt:lpstr>How the next file is predicted</vt:lpstr>
      <vt:lpstr>Built to adapt</vt:lpstr>
      <vt:lpstr>How we evaluated FileMind</vt:lpstr>
      <vt:lpstr>Results: coding workload (W1)</vt:lpstr>
      <vt:lpstr>Results across all three workloads</vt:lpstr>
      <vt:lpstr>Limitations and future work</vt:lpstr>
      <vt:lpstr>Code and live demo</vt:lpstr>
      <vt:lpstr>PowerPoint Presentation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FileMind — Final Review</dc:title>
  <dc:subject>PptxGenJS Presentation</dc:subject>
  <dc:creator>Komala Shravya, Manugula Sri Harshini, Anil, Deekshith Reddy</dc:creator>
  <cp:lastModifiedBy>komala shravya</cp:lastModifiedBy>
  <cp:revision>1</cp:revision>
  <dcterms:created xsi:type="dcterms:W3CDTF">2026-10-06T05:44:53Z</dcterms:created>
  <dcterms:modified xsi:type="dcterms:W3CDTF">2026-10-07T07:37:58Z</dcterms:modified>
</cp:coreProperties>
</file>