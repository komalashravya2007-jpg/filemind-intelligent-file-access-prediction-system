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DM Sans Medium" pitchFamily="2" charset="0"/>
      <p:regular r:id="rId13"/>
      <p:italic r:id="rId14"/>
    </p:embeddedFont>
    <p:embeddedFont>
      <p:font typeface="Inter" panose="020B0604020202020204" charset="0"/>
      <p:regular r:id="rId15"/>
    </p:embeddedFont>
    <p:embeddedFont>
      <p:font typeface="Inter 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mala shravya" userId="56914f952aaa9477" providerId="LiveId" clId="{B3049AD4-F123-45CD-A07D-7CA62CE5BA63}"/>
    <pc:docChg chg="undo custSel addSld modSld sldOrd">
      <pc:chgData name="komala shravya" userId="56914f952aaa9477" providerId="LiveId" clId="{B3049AD4-F123-45CD-A07D-7CA62CE5BA63}" dt="2026-09-15T15:31:45.508" v="101" actId="20577"/>
      <pc:docMkLst>
        <pc:docMk/>
      </pc:docMkLst>
      <pc:sldChg chg="modSp mod">
        <pc:chgData name="komala shravya" userId="56914f952aaa9477" providerId="LiveId" clId="{B3049AD4-F123-45CD-A07D-7CA62CE5BA63}" dt="2026-09-15T15:31:45.508" v="101" actId="20577"/>
        <pc:sldMkLst>
          <pc:docMk/>
          <pc:sldMk cId="0" sldId="256"/>
        </pc:sldMkLst>
        <pc:spChg chg="mod">
          <ac:chgData name="komala shravya" userId="56914f952aaa9477" providerId="LiveId" clId="{B3049AD4-F123-45CD-A07D-7CA62CE5BA63}" dt="2026-09-15T15:31:27.098" v="82" actId="20577"/>
          <ac:spMkLst>
            <pc:docMk/>
            <pc:sldMk cId="0" sldId="256"/>
            <ac:spMk id="8" creationId="{00000000-0000-0000-0000-000000000000}"/>
          </ac:spMkLst>
        </pc:spChg>
        <pc:spChg chg="mod">
          <ac:chgData name="komala shravya" userId="56914f952aaa9477" providerId="LiveId" clId="{B3049AD4-F123-45CD-A07D-7CA62CE5BA63}" dt="2026-09-15T15:31:41.241" v="99" actId="20577"/>
          <ac:spMkLst>
            <pc:docMk/>
            <pc:sldMk cId="0" sldId="256"/>
            <ac:spMk id="9" creationId="{00000000-0000-0000-0000-000000000000}"/>
          </ac:spMkLst>
        </pc:spChg>
        <pc:spChg chg="mod">
          <ac:chgData name="komala shravya" userId="56914f952aaa9477" providerId="LiveId" clId="{B3049AD4-F123-45CD-A07D-7CA62CE5BA63}" dt="2026-09-15T15:31:45.508" v="101" actId="20577"/>
          <ac:spMkLst>
            <pc:docMk/>
            <pc:sldMk cId="0" sldId="256"/>
            <ac:spMk id="10" creationId="{00000000-0000-0000-0000-000000000000}"/>
          </ac:spMkLst>
        </pc:spChg>
      </pc:sldChg>
      <pc:sldChg chg="addSp delSp modSp mod">
        <pc:chgData name="komala shravya" userId="56914f952aaa9477" providerId="LiveId" clId="{B3049AD4-F123-45CD-A07D-7CA62CE5BA63}" dt="2026-08-17T07:59:41.584" v="63" actId="20577"/>
        <pc:sldMkLst>
          <pc:docMk/>
          <pc:sldMk cId="0" sldId="257"/>
        </pc:sldMkLst>
        <pc:spChg chg="add del">
          <ac:chgData name="komala shravya" userId="56914f952aaa9477" providerId="LiveId" clId="{B3049AD4-F123-45CD-A07D-7CA62CE5BA63}" dt="2026-08-17T07:59:37.679" v="54" actId="478"/>
          <ac:spMkLst>
            <pc:docMk/>
            <pc:sldMk cId="0" sldId="257"/>
            <ac:spMk id="2" creationId="{00000000-0000-0000-0000-000000000000}"/>
          </ac:spMkLst>
        </pc:spChg>
        <pc:spChg chg="mod">
          <ac:chgData name="komala shravya" userId="56914f952aaa9477" providerId="LiveId" clId="{B3049AD4-F123-45CD-A07D-7CA62CE5BA63}" dt="2026-08-17T07:59:40.142" v="60" actId="20577"/>
          <ac:spMkLst>
            <pc:docMk/>
            <pc:sldMk cId="0" sldId="257"/>
            <ac:spMk id="3" creationId="{00000000-0000-0000-0000-000000000000}"/>
          </ac:spMkLst>
        </pc:spChg>
        <pc:spChg chg="mod">
          <ac:chgData name="komala shravya" userId="56914f952aaa9477" providerId="LiveId" clId="{B3049AD4-F123-45CD-A07D-7CA62CE5BA63}" dt="2026-08-17T07:59:41.584" v="63" actId="20577"/>
          <ac:spMkLst>
            <pc:docMk/>
            <pc:sldMk cId="0" sldId="257"/>
            <ac:spMk id="4" creationId="{00000000-0000-0000-0000-000000000000}"/>
          </ac:spMkLst>
        </pc:spChg>
      </pc:sldChg>
      <pc:sldChg chg="addSp modSp new mod ord">
        <pc:chgData name="komala shravya" userId="56914f952aaa9477" providerId="LiveId" clId="{B3049AD4-F123-45CD-A07D-7CA62CE5BA63}" dt="2026-08-17T08:05:02.609" v="81" actId="1076"/>
        <pc:sldMkLst>
          <pc:docMk/>
          <pc:sldMk cId="3925030204" sldId="265"/>
        </pc:sldMkLst>
        <pc:spChg chg="add mod">
          <ac:chgData name="komala shravya" userId="56914f952aaa9477" providerId="LiveId" clId="{B3049AD4-F123-45CD-A07D-7CA62CE5BA63}" dt="2026-08-17T08:05:02.609" v="81" actId="1076"/>
          <ac:spMkLst>
            <pc:docMk/>
            <pc:sldMk cId="3925030204" sldId="265"/>
            <ac:spMk id="2" creationId="{9F5C19F9-1630-5B3D-BEF1-E88978E66C7D}"/>
          </ac:spMkLst>
        </pc:spChg>
      </pc:sldChg>
    </pc:docChg>
  </pc:docChgLst>
  <pc:docChgLst>
    <pc:chgData name="Guest User" providerId="Windows Live" clId="Web-{00000000-0000-0000-0000-000000000000}"/>
    <pc:docChg chg="modSld">
      <pc:chgData name="Guest User" userId="" providerId="Windows Live" clId="Web-{00000000-0000-0000-0000-000000000000}" dt="2026-08-17T13:19:34.598" v="75" actId="20577"/>
      <pc:docMkLst>
        <pc:docMk/>
      </pc:docMkLst>
      <pc:sldChg chg="modSp">
        <pc:chgData name="Guest User" userId="" providerId="Windows Live" clId="Web-{00000000-0000-0000-0000-000000000000}" dt="2026-08-17T13:19:34.598" v="75" actId="20577"/>
        <pc:sldMkLst>
          <pc:docMk/>
          <pc:sldMk cId="0" sldId="256"/>
        </pc:sldMkLst>
        <pc:spChg chg="mod">
          <ac:chgData name="Guest User" userId="" providerId="Windows Live" clId="Web-{00000000-0000-0000-0000-000000000000}" dt="2026-08-17T13:19:34.598" v="75" actId="20577"/>
          <ac:spMkLst>
            <pc:docMk/>
            <pc:sldMk cId="0" sldId="256"/>
            <ac:spMk id="9" creationId="{00000000-0000-0000-0000-000000000000}"/>
          </ac:spMkLst>
        </pc:spChg>
        <pc:spChg chg="mod">
          <ac:chgData name="Guest User" userId="" providerId="Windows Live" clId="Web-{00000000-0000-0000-0000-000000000000}" dt="2026-08-17T13:13:47.427" v="1" actId="20577"/>
          <ac:spMkLst>
            <pc:docMk/>
            <pc:sldMk cId="0" sldId="256"/>
            <ac:spMk id="10" creationId="{00000000-0000-0000-0000-000000000000}"/>
          </ac:spMkLst>
        </pc:spChg>
        <pc:spChg chg="mod">
          <ac:chgData name="Guest User" userId="" providerId="Windows Live" clId="Web-{00000000-0000-0000-0000-000000000000}" dt="2026-08-17T13:14:27.788" v="31" actId="20577"/>
          <ac:spMkLst>
            <pc:docMk/>
            <pc:sldMk cId="0" sldId="256"/>
            <ac:spMk id="12" creationId="{00000000-0000-0000-0000-000000000000}"/>
          </ac:spMkLst>
        </pc:spChg>
        <pc:spChg chg="mod">
          <ac:chgData name="Guest User" userId="" providerId="Windows Live" clId="Web-{00000000-0000-0000-0000-000000000000}" dt="2026-08-17T13:14:05.178" v="17" actId="20577"/>
          <ac:spMkLst>
            <pc:docMk/>
            <pc:sldMk cId="0" sldId="256"/>
            <ac:spMk id="13" creationId="{00000000-0000-0000-0000-000000000000}"/>
          </ac:spMkLst>
        </pc:spChg>
        <pc:spChg chg="mod">
          <ac:chgData name="Guest User" userId="" providerId="Windows Live" clId="Web-{00000000-0000-0000-0000-000000000000}" dt="2026-08-17T13:14:37.992" v="34" actId="20577"/>
          <ac:spMkLst>
            <pc:docMk/>
            <pc:sldMk cId="0" sldId="256"/>
            <ac:spMk id="15" creationId="{00000000-0000-0000-0000-000000000000}"/>
          </ac:spMkLst>
        </pc:spChg>
        <pc:spChg chg="mod">
          <ac:chgData name="Guest User" userId="" providerId="Windows Live" clId="Web-{00000000-0000-0000-0000-000000000000}" dt="2026-08-17T13:14:52.836" v="41" actId="20577"/>
          <ac:spMkLst>
            <pc:docMk/>
            <pc:sldMk cId="0" sldId="256"/>
            <ac:spMk id="16" creationId="{00000000-0000-0000-0000-000000000000}"/>
          </ac:spMkLst>
        </pc:spChg>
        <pc:spChg chg="mod">
          <ac:chgData name="Guest User" userId="" providerId="Windows Live" clId="Web-{00000000-0000-0000-0000-000000000000}" dt="2026-08-17T13:15:09.634" v="53" actId="20577"/>
          <ac:spMkLst>
            <pc:docMk/>
            <pc:sldMk cId="0" sldId="256"/>
            <ac:spMk id="18" creationId="{00000000-0000-0000-0000-000000000000}"/>
          </ac:spMkLst>
        </pc:spChg>
        <pc:spChg chg="mod">
          <ac:chgData name="Guest User" userId="" providerId="Windows Live" clId="Web-{00000000-0000-0000-0000-000000000000}" dt="2026-08-17T13:18:30.236" v="60" actId="20577"/>
          <ac:spMkLst>
            <pc:docMk/>
            <pc:sldMk cId="0" sldId="256"/>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509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2DB"/>
          </a:solidFill>
          <a:ln/>
        </p:spPr>
      </p:sp>
      <p:sp>
        <p:nvSpPr>
          <p:cNvPr id="3" name="Shape 1"/>
          <p:cNvSpPr/>
          <p:nvPr/>
        </p:nvSpPr>
        <p:spPr>
          <a:xfrm>
            <a:off x="0" y="0"/>
            <a:ext cx="12191695" cy="68580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61475" y="554335"/>
            <a:ext cx="4082055" cy="287139"/>
          </a:xfrm>
          <a:prstGeom prst="roundRect">
            <a:avLst>
              <a:gd name="adj" fmla="val 7899"/>
            </a:avLst>
          </a:prstGeom>
          <a:solidFill>
            <a:srgbClr val="E3E3E8"/>
          </a:solidFill>
          <a:ln/>
        </p:spPr>
      </p:sp>
      <p:sp>
        <p:nvSpPr>
          <p:cNvPr id="3" name="Text 1"/>
          <p:cNvSpPr/>
          <p:nvPr/>
        </p:nvSpPr>
        <p:spPr>
          <a:xfrm>
            <a:off x="774879" y="610989"/>
            <a:ext cx="4464831" cy="173831"/>
          </a:xfrm>
          <a:prstGeom prst="rect">
            <a:avLst/>
          </a:prstGeom>
          <a:noFill/>
          <a:ln/>
        </p:spPr>
        <p:txBody>
          <a:bodyPr wrap="none" lIns="0" tIns="0" rIns="0" bIns="0" rtlCol="0" anchor="t"/>
          <a:lstStyle/>
          <a:p>
            <a:pPr marL="0" indent="0" algn="l">
              <a:lnSpc>
                <a:spcPct val="96000"/>
              </a:lnSpc>
              <a:buNone/>
            </a:pPr>
            <a:r>
              <a:rPr lang="en-US" sz="1150">
                <a:solidFill>
                  <a:srgbClr val="161613"/>
                </a:solidFill>
                <a:latin typeface="Inter" pitchFamily="34" charset="0"/>
                <a:ea typeface="Inter" pitchFamily="34" charset="-122"/>
                <a:cs typeface="Inter" pitchFamily="34" charset="-120"/>
              </a:rPr>
              <a:t>OPERATING SYSTEMS AND SYSTEM PROGRAMMING</a:t>
            </a:r>
            <a:endParaRPr lang="en-US" sz="1150"/>
          </a:p>
        </p:txBody>
      </p:sp>
      <p:sp>
        <p:nvSpPr>
          <p:cNvPr id="4" name="Text 2"/>
          <p:cNvSpPr/>
          <p:nvPr/>
        </p:nvSpPr>
        <p:spPr>
          <a:xfrm>
            <a:off x="661475" y="917079"/>
            <a:ext cx="10868745" cy="815181"/>
          </a:xfrm>
          <a:prstGeom prst="rect">
            <a:avLst/>
          </a:prstGeom>
          <a:noFill/>
          <a:ln/>
        </p:spPr>
        <p:txBody>
          <a:bodyPr wrap="none" lIns="0" tIns="0" rIns="0" bIns="0" rtlCol="0" anchor="t"/>
          <a:lstStyle/>
          <a:p>
            <a:pPr marL="0" indent="0" algn="l">
              <a:lnSpc>
                <a:spcPct val="104000"/>
              </a:lnSpc>
              <a:buNone/>
            </a:pPr>
            <a:r>
              <a:rPr lang="en-US" sz="5100">
                <a:solidFill>
                  <a:srgbClr val="161613"/>
                </a:solidFill>
                <a:latin typeface="DM Sans Medium" pitchFamily="34" charset="0"/>
                <a:ea typeface="DM Sans Medium" pitchFamily="34" charset="-122"/>
                <a:cs typeface="DM Sans Medium" pitchFamily="34" charset="-120"/>
              </a:rPr>
              <a:t>FileMind</a:t>
            </a:r>
            <a:endParaRPr lang="en-US" sz="5100"/>
          </a:p>
        </p:txBody>
      </p:sp>
      <p:sp>
        <p:nvSpPr>
          <p:cNvPr id="5" name="Text 3"/>
          <p:cNvSpPr/>
          <p:nvPr/>
        </p:nvSpPr>
        <p:spPr>
          <a:xfrm>
            <a:off x="661475" y="2015728"/>
            <a:ext cx="10868745" cy="472480"/>
          </a:xfrm>
          <a:prstGeom prst="rect">
            <a:avLst/>
          </a:prstGeom>
          <a:noFill/>
          <a:ln/>
        </p:spPr>
        <p:txBody>
          <a:bodyPr wrap="none" lIns="0" tIns="0" rIns="0" bIns="0" rtlCol="0" anchor="t"/>
          <a:lstStyle/>
          <a:p>
            <a:pPr marL="0" indent="0" algn="l">
              <a:lnSpc>
                <a:spcPct val="104000"/>
              </a:lnSpc>
              <a:buNone/>
            </a:pPr>
            <a:r>
              <a:rPr lang="en-US" sz="2950">
                <a:solidFill>
                  <a:srgbClr val="161613"/>
                </a:solidFill>
                <a:latin typeface="DM Sans Medium" pitchFamily="34" charset="0"/>
                <a:ea typeface="DM Sans Medium" pitchFamily="34" charset="-122"/>
                <a:cs typeface="DM Sans Medium" pitchFamily="34" charset="-120"/>
              </a:rPr>
              <a:t>Intelligent File Access Prediction System</a:t>
            </a:r>
            <a:endParaRPr lang="en-US" sz="2950"/>
          </a:p>
        </p:txBody>
      </p:sp>
      <p:sp>
        <p:nvSpPr>
          <p:cNvPr id="6" name="Text 4"/>
          <p:cNvSpPr/>
          <p:nvPr/>
        </p:nvSpPr>
        <p:spPr>
          <a:xfrm>
            <a:off x="661475" y="2771676"/>
            <a:ext cx="11478330" cy="302419"/>
          </a:xfrm>
          <a:prstGeom prst="rect">
            <a:avLst/>
          </a:prstGeom>
          <a:noFill/>
          <a:ln/>
        </p:spPr>
        <p:txBody>
          <a:bodyPr wrap="none" lIns="0" tIns="0" rIns="0" bIns="0" rtlCol="0" anchor="t"/>
          <a:lstStyle/>
          <a:p>
            <a:pPr marL="0" indent="0" algn="l">
              <a:lnSpc>
                <a:spcPct val="133000"/>
              </a:lnSpc>
              <a:buNone/>
            </a:pPr>
            <a:endParaRPr lang="en-US" sz="1450"/>
          </a:p>
        </p:txBody>
      </p:sp>
      <p:sp>
        <p:nvSpPr>
          <p:cNvPr id="7" name="Text 5"/>
          <p:cNvSpPr/>
          <p:nvPr/>
        </p:nvSpPr>
        <p:spPr>
          <a:xfrm>
            <a:off x="661475" y="3357563"/>
            <a:ext cx="10868745" cy="295275"/>
          </a:xfrm>
          <a:prstGeom prst="rect">
            <a:avLst/>
          </a:prstGeom>
          <a:noFill/>
          <a:ln/>
        </p:spPr>
        <p:txBody>
          <a:bodyPr wrap="none" lIns="0" tIns="0" rIns="0" bIns="0" rtlCol="0" anchor="t"/>
          <a:lstStyle/>
          <a:p>
            <a:pPr marL="0" indent="0" algn="l">
              <a:lnSpc>
                <a:spcPct val="104000"/>
              </a:lnSpc>
              <a:buNone/>
            </a:pPr>
            <a:r>
              <a:rPr lang="en-US" sz="1850">
                <a:solidFill>
                  <a:srgbClr val="161613"/>
                </a:solidFill>
                <a:latin typeface="DM Sans Medium" pitchFamily="34" charset="0"/>
                <a:ea typeface="DM Sans Medium" pitchFamily="34" charset="-122"/>
                <a:cs typeface="DM Sans Medium" pitchFamily="34" charset="-120"/>
              </a:rPr>
              <a:t>Project Team Members:</a:t>
            </a:r>
            <a:endParaRPr lang="en-US" sz="1850"/>
          </a:p>
        </p:txBody>
      </p:sp>
      <p:sp>
        <p:nvSpPr>
          <p:cNvPr id="8" name="Shape 6"/>
          <p:cNvSpPr/>
          <p:nvPr/>
        </p:nvSpPr>
        <p:spPr>
          <a:xfrm>
            <a:off x="661475" y="3936305"/>
            <a:ext cx="5339820" cy="1089124"/>
          </a:xfrm>
          <a:prstGeom prst="roundRect">
            <a:avLst>
              <a:gd name="adj" fmla="val 2603"/>
            </a:avLst>
          </a:prstGeom>
          <a:solidFill>
            <a:srgbClr val="EDEBE3"/>
          </a:solidFill>
          <a:ln/>
        </p:spPr>
        <p:txBody>
          <a:bodyPr/>
          <a:lstStyle/>
          <a:p>
            <a:endParaRPr lang="en-IN" dirty="0"/>
          </a:p>
        </p:txBody>
      </p:sp>
      <p:sp>
        <p:nvSpPr>
          <p:cNvPr id="9" name="Text 7"/>
          <p:cNvSpPr/>
          <p:nvPr/>
        </p:nvSpPr>
        <p:spPr>
          <a:xfrm>
            <a:off x="850482" y="4125317"/>
            <a:ext cx="4961806" cy="295275"/>
          </a:xfrm>
          <a:prstGeom prst="rect">
            <a:avLst/>
          </a:prstGeom>
          <a:noFill/>
          <a:ln/>
        </p:spPr>
        <p:txBody>
          <a:bodyPr wrap="none" lIns="0" tIns="0" rIns="0" bIns="0" rtlCol="0" anchor="t"/>
          <a:lstStyle/>
          <a:p>
            <a:pPr>
              <a:lnSpc>
                <a:spcPct val="104000"/>
              </a:lnSpc>
            </a:pPr>
            <a:r>
              <a:rPr lang="en-US" sz="1850" dirty="0">
                <a:solidFill>
                  <a:srgbClr val="161613"/>
                </a:solidFill>
                <a:latin typeface="DM Sans Medium"/>
              </a:rPr>
              <a:t>Shravya</a:t>
            </a:r>
          </a:p>
        </p:txBody>
      </p:sp>
      <p:sp>
        <p:nvSpPr>
          <p:cNvPr id="10" name="Text 8"/>
          <p:cNvSpPr/>
          <p:nvPr/>
        </p:nvSpPr>
        <p:spPr>
          <a:xfrm>
            <a:off x="850482" y="4533999"/>
            <a:ext cx="4961806" cy="302419"/>
          </a:xfrm>
          <a:prstGeom prst="rect">
            <a:avLst/>
          </a:prstGeom>
          <a:noFill/>
          <a:ln/>
        </p:spPr>
        <p:txBody>
          <a:bodyPr wrap="none" lIns="0" tIns="0" rIns="0" bIns="0" rtlCol="0" anchor="t"/>
          <a:lstStyle/>
          <a:p>
            <a:pPr marL="0" indent="0" algn="l">
              <a:lnSpc>
                <a:spcPct val="133000"/>
              </a:lnSpc>
              <a:buNone/>
            </a:pPr>
            <a:r>
              <a:rPr lang="en-US" sz="1450">
                <a:solidFill>
                  <a:srgbClr val="161613"/>
                </a:solidFill>
                <a:latin typeface="Inter"/>
                <a:ea typeface="Inter"/>
              </a:rPr>
              <a:t>2510030123</a:t>
            </a:r>
            <a:endParaRPr lang="en-US" sz="1450"/>
          </a:p>
        </p:txBody>
      </p:sp>
      <p:sp>
        <p:nvSpPr>
          <p:cNvPr id="11" name="Shape 9"/>
          <p:cNvSpPr/>
          <p:nvPr/>
        </p:nvSpPr>
        <p:spPr>
          <a:xfrm>
            <a:off x="6190301" y="3936305"/>
            <a:ext cx="5339919" cy="1089124"/>
          </a:xfrm>
          <a:prstGeom prst="roundRect">
            <a:avLst>
              <a:gd name="adj" fmla="val 2603"/>
            </a:avLst>
          </a:prstGeom>
          <a:solidFill>
            <a:srgbClr val="EDEBE3"/>
          </a:solidFill>
          <a:ln/>
        </p:spPr>
      </p:sp>
      <p:sp>
        <p:nvSpPr>
          <p:cNvPr id="12" name="Text 10"/>
          <p:cNvSpPr/>
          <p:nvPr/>
        </p:nvSpPr>
        <p:spPr>
          <a:xfrm>
            <a:off x="6379308" y="4125317"/>
            <a:ext cx="4961905" cy="295275"/>
          </a:xfrm>
          <a:prstGeom prst="rect">
            <a:avLst/>
          </a:prstGeom>
          <a:noFill/>
          <a:ln/>
        </p:spPr>
        <p:txBody>
          <a:bodyPr wrap="none" lIns="0" tIns="0" rIns="0" bIns="0" rtlCol="0" anchor="t"/>
          <a:lstStyle/>
          <a:p>
            <a:pPr marL="0" indent="0" algn="l">
              <a:lnSpc>
                <a:spcPct val="104000"/>
              </a:lnSpc>
              <a:buNone/>
            </a:pPr>
            <a:r>
              <a:rPr lang="en-US" sz="1850" dirty="0">
                <a:solidFill>
                  <a:srgbClr val="161613"/>
                </a:solidFill>
                <a:latin typeface="DM Sans Medium"/>
              </a:rPr>
              <a:t>Ashr</a:t>
            </a:r>
            <a:r>
              <a:rPr lang="en-US" sz="1850">
                <a:solidFill>
                  <a:srgbClr val="161613"/>
                </a:solidFill>
                <a:latin typeface="DM Sans Medium"/>
              </a:rPr>
              <a:t>itha</a:t>
            </a:r>
            <a:endParaRPr lang="en-US" sz="1850" dirty="0">
              <a:solidFill>
                <a:srgbClr val="161613"/>
              </a:solidFill>
              <a:latin typeface="DM Sans Medium"/>
            </a:endParaRPr>
          </a:p>
        </p:txBody>
      </p:sp>
      <p:sp>
        <p:nvSpPr>
          <p:cNvPr id="13" name="Text 11"/>
          <p:cNvSpPr/>
          <p:nvPr/>
        </p:nvSpPr>
        <p:spPr>
          <a:xfrm>
            <a:off x="6379308" y="4533999"/>
            <a:ext cx="4961905" cy="302419"/>
          </a:xfrm>
          <a:prstGeom prst="rect">
            <a:avLst/>
          </a:prstGeom>
          <a:noFill/>
          <a:ln/>
        </p:spPr>
        <p:txBody>
          <a:bodyPr wrap="none" lIns="0" tIns="0" rIns="0" bIns="0" rtlCol="0" anchor="t"/>
          <a:lstStyle/>
          <a:p>
            <a:pPr marL="0" indent="0" algn="l">
              <a:lnSpc>
                <a:spcPct val="133000"/>
              </a:lnSpc>
              <a:buNone/>
            </a:pPr>
            <a:r>
              <a:rPr lang="en-US" sz="1450">
                <a:solidFill>
                  <a:srgbClr val="161613"/>
                </a:solidFill>
                <a:latin typeface="Inter"/>
                <a:ea typeface="Inter"/>
              </a:rPr>
              <a:t>2510030120</a:t>
            </a:r>
            <a:endParaRPr lang="en-US" sz="1450"/>
          </a:p>
        </p:txBody>
      </p:sp>
      <p:sp>
        <p:nvSpPr>
          <p:cNvPr id="14" name="Shape 12"/>
          <p:cNvSpPr/>
          <p:nvPr/>
        </p:nvSpPr>
        <p:spPr>
          <a:xfrm>
            <a:off x="661475" y="5214441"/>
            <a:ext cx="5339820" cy="1089124"/>
          </a:xfrm>
          <a:prstGeom prst="roundRect">
            <a:avLst>
              <a:gd name="adj" fmla="val 2603"/>
            </a:avLst>
          </a:prstGeom>
          <a:solidFill>
            <a:srgbClr val="EDEBE3"/>
          </a:solidFill>
          <a:ln/>
        </p:spPr>
      </p:sp>
      <p:sp>
        <p:nvSpPr>
          <p:cNvPr id="15" name="Text 13"/>
          <p:cNvSpPr/>
          <p:nvPr/>
        </p:nvSpPr>
        <p:spPr>
          <a:xfrm>
            <a:off x="850482" y="5403453"/>
            <a:ext cx="4961806" cy="295275"/>
          </a:xfrm>
          <a:prstGeom prst="rect">
            <a:avLst/>
          </a:prstGeom>
          <a:noFill/>
          <a:ln/>
        </p:spPr>
        <p:txBody>
          <a:bodyPr wrap="none" lIns="0" tIns="0" rIns="0" bIns="0" rtlCol="0" anchor="t"/>
          <a:lstStyle/>
          <a:p>
            <a:pPr marL="0" indent="0" algn="l">
              <a:lnSpc>
                <a:spcPct val="104000"/>
              </a:lnSpc>
              <a:buNone/>
            </a:pPr>
            <a:r>
              <a:rPr lang="en-US" sz="1850">
                <a:solidFill>
                  <a:srgbClr val="161613"/>
                </a:solidFill>
                <a:latin typeface="DM Sans Medium"/>
              </a:rPr>
              <a:t>Ansh</a:t>
            </a:r>
            <a:endParaRPr lang="en-US" sz="1850"/>
          </a:p>
        </p:txBody>
      </p:sp>
      <p:sp>
        <p:nvSpPr>
          <p:cNvPr id="16" name="Text 14"/>
          <p:cNvSpPr/>
          <p:nvPr/>
        </p:nvSpPr>
        <p:spPr>
          <a:xfrm>
            <a:off x="850482" y="5812135"/>
            <a:ext cx="4961806" cy="302419"/>
          </a:xfrm>
          <a:prstGeom prst="rect">
            <a:avLst/>
          </a:prstGeom>
          <a:noFill/>
          <a:ln/>
        </p:spPr>
        <p:txBody>
          <a:bodyPr wrap="none" lIns="0" tIns="0" rIns="0" bIns="0" rtlCol="0" anchor="t"/>
          <a:lstStyle/>
          <a:p>
            <a:pPr marL="0" indent="0" algn="l">
              <a:lnSpc>
                <a:spcPct val="133000"/>
              </a:lnSpc>
              <a:buNone/>
            </a:pPr>
            <a:r>
              <a:rPr lang="en-US" sz="1450">
                <a:solidFill>
                  <a:srgbClr val="161613"/>
                </a:solidFill>
                <a:latin typeface="Inter"/>
                <a:ea typeface="Inter"/>
              </a:rPr>
              <a:t>2510030002</a:t>
            </a:r>
            <a:endParaRPr lang="en-US" sz="1450"/>
          </a:p>
        </p:txBody>
      </p:sp>
      <p:sp>
        <p:nvSpPr>
          <p:cNvPr id="17" name="Shape 15"/>
          <p:cNvSpPr/>
          <p:nvPr/>
        </p:nvSpPr>
        <p:spPr>
          <a:xfrm>
            <a:off x="6190301" y="5214441"/>
            <a:ext cx="5339919" cy="1089124"/>
          </a:xfrm>
          <a:prstGeom prst="roundRect">
            <a:avLst>
              <a:gd name="adj" fmla="val 2603"/>
            </a:avLst>
          </a:prstGeom>
          <a:solidFill>
            <a:srgbClr val="EDEBE3"/>
          </a:solidFill>
          <a:ln/>
        </p:spPr>
      </p:sp>
      <p:sp>
        <p:nvSpPr>
          <p:cNvPr id="18" name="Text 16"/>
          <p:cNvSpPr/>
          <p:nvPr/>
        </p:nvSpPr>
        <p:spPr>
          <a:xfrm>
            <a:off x="6379308" y="5403453"/>
            <a:ext cx="4961905" cy="295275"/>
          </a:xfrm>
          <a:prstGeom prst="rect">
            <a:avLst/>
          </a:prstGeom>
          <a:noFill/>
          <a:ln/>
        </p:spPr>
        <p:txBody>
          <a:bodyPr wrap="none" lIns="0" tIns="0" rIns="0" bIns="0" rtlCol="0" anchor="t"/>
          <a:lstStyle/>
          <a:p>
            <a:pPr marL="0" indent="0" algn="l">
              <a:lnSpc>
                <a:spcPct val="104000"/>
              </a:lnSpc>
              <a:buNone/>
            </a:pPr>
            <a:r>
              <a:rPr lang="en-US" sz="1850">
                <a:solidFill>
                  <a:srgbClr val="161613"/>
                </a:solidFill>
                <a:latin typeface="DM Sans Medium"/>
              </a:rPr>
              <a:t>Akshitha</a:t>
            </a:r>
            <a:endParaRPr lang="en-US" sz="1850" dirty="0">
              <a:solidFill>
                <a:srgbClr val="161613"/>
              </a:solidFill>
              <a:latin typeface="DM Sans Medium"/>
            </a:endParaRPr>
          </a:p>
        </p:txBody>
      </p:sp>
      <p:sp>
        <p:nvSpPr>
          <p:cNvPr id="19" name="Text 17"/>
          <p:cNvSpPr/>
          <p:nvPr/>
        </p:nvSpPr>
        <p:spPr>
          <a:xfrm>
            <a:off x="6379308" y="5812135"/>
            <a:ext cx="4961905" cy="302419"/>
          </a:xfrm>
          <a:prstGeom prst="rect">
            <a:avLst/>
          </a:prstGeom>
          <a:noFill/>
          <a:ln/>
        </p:spPr>
        <p:txBody>
          <a:bodyPr wrap="none" lIns="0" tIns="0" rIns="0" bIns="0" rtlCol="0" anchor="t"/>
          <a:lstStyle/>
          <a:p>
            <a:pPr marL="0" indent="0" algn="l">
              <a:lnSpc>
                <a:spcPct val="133000"/>
              </a:lnSpc>
              <a:buNone/>
            </a:pPr>
            <a:r>
              <a:rPr lang="en-US" sz="1450">
                <a:solidFill>
                  <a:srgbClr val="161613"/>
                </a:solidFill>
                <a:latin typeface="Inter"/>
                <a:ea typeface="Inter"/>
              </a:rPr>
              <a:t>2510030176</a:t>
            </a:r>
            <a:endParaRPr lang="en-US" sz="14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559792"/>
            <a:ext cx="792936" cy="224929"/>
          </a:xfrm>
          <a:prstGeom prst="roundRect">
            <a:avLst>
              <a:gd name="adj" fmla="val 7902"/>
            </a:avLst>
          </a:prstGeom>
          <a:noFill/>
          <a:ln w="6350">
            <a:solidFill>
              <a:srgbClr val="28282F"/>
            </a:solidFill>
            <a:prstDash val="solid"/>
          </a:ln>
        </p:spPr>
      </p:sp>
      <p:sp>
        <p:nvSpPr>
          <p:cNvPr id="3" name="Text 1"/>
          <p:cNvSpPr/>
          <p:nvPr/>
        </p:nvSpPr>
        <p:spPr>
          <a:xfrm>
            <a:off x="750273" y="604143"/>
            <a:ext cx="1224924" cy="136227"/>
          </a:xfrm>
          <a:prstGeom prst="rect">
            <a:avLst/>
          </a:prstGeom>
          <a:noFill/>
          <a:ln/>
        </p:spPr>
        <p:txBody>
          <a:bodyPr wrap="none" lIns="0" tIns="0" rIns="0" bIns="0" rtlCol="0" anchor="t"/>
          <a:lstStyle/>
          <a:p>
            <a:pPr marL="0" indent="0" algn="l">
              <a:lnSpc>
                <a:spcPct val="96000"/>
              </a:lnSpc>
              <a:buNone/>
            </a:pPr>
            <a:r>
              <a:rPr lang="en-US" sz="900">
                <a:solidFill>
                  <a:srgbClr val="28282F"/>
                </a:solidFill>
                <a:latin typeface="Inter" pitchFamily="34" charset="0"/>
                <a:ea typeface="Inter" pitchFamily="34" charset="-122"/>
                <a:cs typeface="Inter" pitchFamily="34" charset="-120"/>
              </a:rPr>
              <a:t>OVERVIEW</a:t>
            </a:r>
            <a:endParaRPr lang="en-US" sz="900"/>
          </a:p>
        </p:txBody>
      </p:sp>
      <p:sp>
        <p:nvSpPr>
          <p:cNvPr id="4" name="Text 2"/>
          <p:cNvSpPr/>
          <p:nvPr/>
        </p:nvSpPr>
        <p:spPr>
          <a:xfrm>
            <a:off x="661475" y="831056"/>
            <a:ext cx="10868745" cy="462855"/>
          </a:xfrm>
          <a:prstGeom prst="rect">
            <a:avLst/>
          </a:prstGeom>
          <a:noFill/>
          <a:ln/>
        </p:spPr>
        <p:txBody>
          <a:bodyPr wrap="none" lIns="0" tIns="0" rIns="0" bIns="0" rtlCol="0" anchor="t"/>
          <a:lstStyle/>
          <a:p>
            <a:pPr marL="0" indent="0" algn="l">
              <a:lnSpc>
                <a:spcPct val="104000"/>
              </a:lnSpc>
              <a:buNone/>
            </a:pPr>
            <a:r>
              <a:rPr lang="en-US" sz="2900">
                <a:solidFill>
                  <a:srgbClr val="161613"/>
                </a:solidFill>
                <a:latin typeface="DM Sans Medium" pitchFamily="34" charset="0"/>
                <a:ea typeface="DM Sans Medium" pitchFamily="34" charset="-122"/>
                <a:cs typeface="DM Sans Medium" pitchFamily="34" charset="-120"/>
              </a:rPr>
              <a:t>Abstract</a:t>
            </a:r>
            <a:endParaRPr lang="en-US" sz="2900"/>
          </a:p>
        </p:txBody>
      </p:sp>
      <p:sp>
        <p:nvSpPr>
          <p:cNvPr id="5" name="Text 3"/>
          <p:cNvSpPr/>
          <p:nvPr/>
        </p:nvSpPr>
        <p:spPr>
          <a:xfrm>
            <a:off x="661475" y="1467941"/>
            <a:ext cx="10868745" cy="634008"/>
          </a:xfrm>
          <a:prstGeom prst="rect">
            <a:avLst/>
          </a:prstGeom>
          <a:noFill/>
          <a:ln/>
        </p:spPr>
        <p:txBody>
          <a:bodyPr wrap="square" lIns="0" tIns="0" rIns="0" bIns="0" rtlCol="0" anchor="t">
            <a:normAutofit/>
          </a:bodyPr>
          <a:lstStyle/>
          <a:p>
            <a:pPr marL="0" indent="0" algn="l">
              <a:lnSpc>
                <a:spcPct val="119000"/>
              </a:lnSpc>
              <a:buNone/>
            </a:pPr>
            <a:r>
              <a:rPr lang="en-US" sz="1150">
                <a:solidFill>
                  <a:srgbClr val="161613"/>
                </a:solidFill>
                <a:latin typeface="Inter" pitchFamily="34" charset="0"/>
                <a:ea typeface="Inter" pitchFamily="34" charset="-122"/>
                <a:cs typeface="Inter" pitchFamily="34" charset="-120"/>
              </a:rPr>
              <a:t>FileMind is an intelligent file access prediction system that monitors user file-access behaviour, analyses historical access patterns, and predicts the file most likely to be accessed next. The predicted file is then intelligently prefetched into memory, reducing access latency and improving overall system responsiveness.</a:t>
            </a:r>
            <a:endParaRPr lang="en-US" sz="1150"/>
          </a:p>
        </p:txBody>
      </p:sp>
      <p:sp>
        <p:nvSpPr>
          <p:cNvPr id="6" name="Text 4"/>
          <p:cNvSpPr/>
          <p:nvPr/>
        </p:nvSpPr>
        <p:spPr>
          <a:xfrm>
            <a:off x="661475" y="2336899"/>
            <a:ext cx="5863285" cy="211336"/>
          </a:xfrm>
          <a:prstGeom prst="rect">
            <a:avLst/>
          </a:prstGeom>
          <a:noFill/>
          <a:ln/>
        </p:spPr>
        <p:txBody>
          <a:bodyPr wrap="none" lIns="0" tIns="0" rIns="0" bIns="0" rtlCol="0" anchor="t"/>
          <a:lstStyle/>
          <a:p>
            <a:pPr marL="0" indent="0" algn="l">
              <a:lnSpc>
                <a:spcPct val="119000"/>
              </a:lnSpc>
              <a:buNone/>
            </a:pPr>
            <a:endParaRPr lang="en-US" sz="1150"/>
          </a:p>
        </p:txBody>
      </p:sp>
      <p:pic>
        <p:nvPicPr>
          <p:cNvPr id="7" name="Image 0" descr="preencoded.png"/>
          <p:cNvPicPr>
            <a:picLocks noChangeAspect="1"/>
          </p:cNvPicPr>
          <p:nvPr/>
        </p:nvPicPr>
        <p:blipFill>
          <a:blip r:embed="rId3"/>
          <a:stretch>
            <a:fillRect/>
          </a:stretch>
        </p:blipFill>
        <p:spPr>
          <a:xfrm>
            <a:off x="1245263" y="2678807"/>
            <a:ext cx="4086123" cy="2186880"/>
          </a:xfrm>
          <a:prstGeom prst="rect">
            <a:avLst/>
          </a:prstGeom>
        </p:spPr>
      </p:pic>
      <p:sp>
        <p:nvSpPr>
          <p:cNvPr id="8" name="Text 5"/>
          <p:cNvSpPr/>
          <p:nvPr/>
        </p:nvSpPr>
        <p:spPr>
          <a:xfrm>
            <a:off x="3132775" y="2885714"/>
            <a:ext cx="1128989" cy="141127"/>
          </a:xfrm>
          <a:prstGeom prst="rect">
            <a:avLst/>
          </a:prstGeom>
          <a:noFill/>
          <a:ln/>
        </p:spPr>
        <p:txBody>
          <a:bodyPr wrap="none" lIns="0" tIns="0" rIns="0" bIns="0" rtlCol="0" anchor="t"/>
          <a:lstStyle/>
          <a:p>
            <a:pPr marL="0" indent="0" algn="l">
              <a:lnSpc>
                <a:spcPct val="104000"/>
              </a:lnSpc>
              <a:buNone/>
            </a:pPr>
            <a:r>
              <a:rPr lang="en-US" sz="850">
                <a:solidFill>
                  <a:srgbClr val="161613"/>
                </a:solidFill>
                <a:latin typeface="DM Sans Medium" pitchFamily="34" charset="0"/>
                <a:ea typeface="DM Sans Medium" pitchFamily="34" charset="-122"/>
                <a:cs typeface="DM Sans Medium" pitchFamily="34" charset="-120"/>
              </a:rPr>
              <a:t>User</a:t>
            </a:r>
            <a:endParaRPr lang="en-US" sz="850"/>
          </a:p>
        </p:txBody>
      </p:sp>
      <p:sp>
        <p:nvSpPr>
          <p:cNvPr id="9" name="Text 6"/>
          <p:cNvSpPr/>
          <p:nvPr/>
        </p:nvSpPr>
        <p:spPr>
          <a:xfrm>
            <a:off x="3132775" y="3287143"/>
            <a:ext cx="1128989" cy="141127"/>
          </a:xfrm>
          <a:prstGeom prst="rect">
            <a:avLst/>
          </a:prstGeom>
          <a:noFill/>
          <a:ln/>
        </p:spPr>
        <p:txBody>
          <a:bodyPr wrap="none" lIns="0" tIns="0" rIns="0" bIns="0" rtlCol="0" anchor="t"/>
          <a:lstStyle/>
          <a:p>
            <a:pPr marL="0" indent="0" algn="l">
              <a:lnSpc>
                <a:spcPct val="104000"/>
              </a:lnSpc>
              <a:buNone/>
            </a:pPr>
            <a:r>
              <a:rPr lang="en-US" sz="850">
                <a:solidFill>
                  <a:srgbClr val="161613"/>
                </a:solidFill>
                <a:latin typeface="DM Sans Medium" pitchFamily="34" charset="0"/>
                <a:ea typeface="DM Sans Medium" pitchFamily="34" charset="-122"/>
                <a:cs typeface="DM Sans Medium" pitchFamily="34" charset="-120"/>
              </a:rPr>
              <a:t>Operating System</a:t>
            </a:r>
            <a:endParaRPr lang="en-US" sz="850"/>
          </a:p>
        </p:txBody>
      </p:sp>
      <p:sp>
        <p:nvSpPr>
          <p:cNvPr id="10" name="Text 7"/>
          <p:cNvSpPr/>
          <p:nvPr/>
        </p:nvSpPr>
        <p:spPr>
          <a:xfrm>
            <a:off x="3132775" y="3688571"/>
            <a:ext cx="1128989" cy="141127"/>
          </a:xfrm>
          <a:prstGeom prst="rect">
            <a:avLst/>
          </a:prstGeom>
          <a:noFill/>
          <a:ln/>
        </p:spPr>
        <p:txBody>
          <a:bodyPr wrap="none" lIns="0" tIns="0" rIns="0" bIns="0" rtlCol="0" anchor="t"/>
          <a:lstStyle/>
          <a:p>
            <a:pPr marL="0" indent="0" algn="l">
              <a:lnSpc>
                <a:spcPct val="104000"/>
              </a:lnSpc>
              <a:buNone/>
            </a:pPr>
            <a:r>
              <a:rPr lang="en-US" sz="850">
                <a:solidFill>
                  <a:srgbClr val="161613"/>
                </a:solidFill>
                <a:latin typeface="DM Sans Medium" pitchFamily="34" charset="0"/>
                <a:ea typeface="DM Sans Medium" pitchFamily="34" charset="-122"/>
                <a:cs typeface="DM Sans Medium" pitchFamily="34" charset="-120"/>
              </a:rPr>
              <a:t>Application Layer</a:t>
            </a:r>
            <a:endParaRPr lang="en-US" sz="850"/>
          </a:p>
        </p:txBody>
      </p:sp>
      <p:sp>
        <p:nvSpPr>
          <p:cNvPr id="11" name="Text 8"/>
          <p:cNvSpPr/>
          <p:nvPr/>
        </p:nvSpPr>
        <p:spPr>
          <a:xfrm>
            <a:off x="3132775" y="4090000"/>
            <a:ext cx="1128989" cy="141127"/>
          </a:xfrm>
          <a:prstGeom prst="rect">
            <a:avLst/>
          </a:prstGeom>
          <a:noFill/>
          <a:ln/>
        </p:spPr>
        <p:txBody>
          <a:bodyPr wrap="none" lIns="0" tIns="0" rIns="0" bIns="0" rtlCol="0" anchor="t"/>
          <a:lstStyle/>
          <a:p>
            <a:pPr marL="0" indent="0" algn="l">
              <a:lnSpc>
                <a:spcPct val="104000"/>
              </a:lnSpc>
              <a:buNone/>
            </a:pPr>
            <a:r>
              <a:rPr lang="en-US" sz="850">
                <a:solidFill>
                  <a:srgbClr val="161613"/>
                </a:solidFill>
                <a:latin typeface="DM Sans Medium" pitchFamily="34" charset="0"/>
                <a:ea typeface="DM Sans Medium" pitchFamily="34" charset="-122"/>
                <a:cs typeface="DM Sans Medium" pitchFamily="34" charset="-120"/>
              </a:rPr>
              <a:t>Data Storage</a:t>
            </a:r>
            <a:endParaRPr lang="en-US" sz="850"/>
          </a:p>
        </p:txBody>
      </p:sp>
      <p:pic>
        <p:nvPicPr>
          <p:cNvPr id="12" name="Image 1" descr="preencoded.png"/>
          <p:cNvPicPr>
            <a:picLocks noChangeAspect="1"/>
          </p:cNvPicPr>
          <p:nvPr/>
        </p:nvPicPr>
        <p:blipFill>
          <a:blip r:embed="rId4"/>
          <a:stretch>
            <a:fillRect/>
          </a:stretch>
        </p:blipFill>
        <p:spPr>
          <a:xfrm>
            <a:off x="6818638" y="2363093"/>
            <a:ext cx="4717932" cy="3251299"/>
          </a:xfrm>
          <a:prstGeom prst="rect">
            <a:avLst/>
          </a:prstGeom>
        </p:spPr>
      </p:pic>
      <p:sp>
        <p:nvSpPr>
          <p:cNvPr id="13" name="Text 9"/>
          <p:cNvSpPr/>
          <p:nvPr/>
        </p:nvSpPr>
        <p:spPr>
          <a:xfrm>
            <a:off x="6936864" y="4386167"/>
            <a:ext cx="1289247" cy="171738"/>
          </a:xfrm>
          <a:prstGeom prst="rect">
            <a:avLst/>
          </a:prstGeom>
          <a:noFill/>
          <a:ln/>
        </p:spPr>
        <p:txBody>
          <a:bodyPr wrap="none" lIns="0" tIns="0" rIns="0" bIns="0" rtlCol="0" anchor="t"/>
          <a:lstStyle/>
          <a:p>
            <a:pPr marL="0" indent="0" algn="ctr">
              <a:lnSpc>
                <a:spcPct val="104000"/>
              </a:lnSpc>
              <a:buNone/>
            </a:pPr>
            <a:r>
              <a:rPr lang="en-US" sz="1050">
                <a:solidFill>
                  <a:srgbClr val="161613"/>
                </a:solidFill>
                <a:latin typeface="DM Sans Medium" pitchFamily="34" charset="0"/>
                <a:ea typeface="DM Sans Medium" pitchFamily="34" charset="-122"/>
                <a:cs typeface="DM Sans Medium" pitchFamily="34" charset="-120"/>
              </a:rPr>
              <a:t>File Access</a:t>
            </a:r>
            <a:endParaRPr lang="en-US" sz="1050"/>
          </a:p>
        </p:txBody>
      </p:sp>
      <p:sp>
        <p:nvSpPr>
          <p:cNvPr id="14" name="Text 10"/>
          <p:cNvSpPr/>
          <p:nvPr/>
        </p:nvSpPr>
        <p:spPr>
          <a:xfrm>
            <a:off x="8035487" y="3020846"/>
            <a:ext cx="1331131" cy="171738"/>
          </a:xfrm>
          <a:prstGeom prst="rect">
            <a:avLst/>
          </a:prstGeom>
          <a:noFill/>
          <a:ln/>
        </p:spPr>
        <p:txBody>
          <a:bodyPr wrap="none" lIns="0" tIns="0" rIns="0" bIns="0" rtlCol="0" anchor="t"/>
          <a:lstStyle/>
          <a:p>
            <a:pPr marL="0" indent="0" algn="ctr">
              <a:lnSpc>
                <a:spcPct val="104000"/>
              </a:lnSpc>
              <a:buNone/>
            </a:pPr>
            <a:r>
              <a:rPr lang="en-US" sz="1050">
                <a:solidFill>
                  <a:srgbClr val="161613"/>
                </a:solidFill>
                <a:latin typeface="DM Sans Medium" pitchFamily="34" charset="0"/>
                <a:ea typeface="DM Sans Medium" pitchFamily="34" charset="-122"/>
                <a:cs typeface="DM Sans Medium" pitchFamily="34" charset="-120"/>
              </a:rPr>
              <a:t>Pattern Analysis</a:t>
            </a:r>
            <a:endParaRPr lang="en-US" sz="1050"/>
          </a:p>
        </p:txBody>
      </p:sp>
      <p:sp>
        <p:nvSpPr>
          <p:cNvPr id="15" name="Text 11"/>
          <p:cNvSpPr/>
          <p:nvPr/>
        </p:nvSpPr>
        <p:spPr>
          <a:xfrm>
            <a:off x="8929077" y="4786032"/>
            <a:ext cx="1289246" cy="171738"/>
          </a:xfrm>
          <a:prstGeom prst="rect">
            <a:avLst/>
          </a:prstGeom>
          <a:noFill/>
          <a:ln/>
        </p:spPr>
        <p:txBody>
          <a:bodyPr wrap="none" lIns="0" tIns="0" rIns="0" bIns="0" rtlCol="0" anchor="t"/>
          <a:lstStyle/>
          <a:p>
            <a:pPr marL="0" indent="0" algn="ctr">
              <a:lnSpc>
                <a:spcPct val="104000"/>
              </a:lnSpc>
              <a:buNone/>
            </a:pPr>
            <a:r>
              <a:rPr lang="en-US" sz="1050">
                <a:solidFill>
                  <a:srgbClr val="161613"/>
                </a:solidFill>
                <a:latin typeface="DM Sans Medium" pitchFamily="34" charset="0"/>
                <a:ea typeface="DM Sans Medium" pitchFamily="34" charset="-122"/>
                <a:cs typeface="DM Sans Medium" pitchFamily="34" charset="-120"/>
              </a:rPr>
              <a:t>Prediction</a:t>
            </a:r>
            <a:endParaRPr lang="en-US" sz="1050"/>
          </a:p>
        </p:txBody>
      </p:sp>
      <p:sp>
        <p:nvSpPr>
          <p:cNvPr id="16" name="Text 12"/>
          <p:cNvSpPr/>
          <p:nvPr/>
        </p:nvSpPr>
        <p:spPr>
          <a:xfrm>
            <a:off x="10073495" y="3380256"/>
            <a:ext cx="1289247" cy="171738"/>
          </a:xfrm>
          <a:prstGeom prst="rect">
            <a:avLst/>
          </a:prstGeom>
          <a:noFill/>
          <a:ln/>
        </p:spPr>
        <p:txBody>
          <a:bodyPr wrap="none" lIns="0" tIns="0" rIns="0" bIns="0" rtlCol="0" anchor="t"/>
          <a:lstStyle/>
          <a:p>
            <a:pPr marL="0" indent="0" algn="ctr">
              <a:lnSpc>
                <a:spcPct val="104000"/>
              </a:lnSpc>
              <a:buNone/>
            </a:pPr>
            <a:r>
              <a:rPr lang="en-US" sz="1050">
                <a:solidFill>
                  <a:srgbClr val="161613"/>
                </a:solidFill>
                <a:latin typeface="DM Sans Medium" pitchFamily="34" charset="0"/>
                <a:ea typeface="DM Sans Medium" pitchFamily="34" charset="-122"/>
                <a:cs typeface="DM Sans Medium" pitchFamily="34" charset="-120"/>
              </a:rPr>
              <a:t>Prefetching</a:t>
            </a:r>
            <a:endParaRPr lang="en-US" sz="1050"/>
          </a:p>
        </p:txBody>
      </p:sp>
      <p:sp>
        <p:nvSpPr>
          <p:cNvPr id="17" name="Text 13"/>
          <p:cNvSpPr/>
          <p:nvPr/>
        </p:nvSpPr>
        <p:spPr>
          <a:xfrm>
            <a:off x="661475" y="5875536"/>
            <a:ext cx="10868745" cy="422672"/>
          </a:xfrm>
          <a:prstGeom prst="rect">
            <a:avLst/>
          </a:prstGeom>
          <a:noFill/>
          <a:ln/>
        </p:spPr>
        <p:txBody>
          <a:bodyPr wrap="square" lIns="0" tIns="0" rIns="0" bIns="0" rtlCol="0" anchor="t">
            <a:normAutofit/>
          </a:bodyPr>
          <a:lstStyle/>
          <a:p>
            <a:pPr marL="0" indent="0" algn="l">
              <a:lnSpc>
                <a:spcPct val="119000"/>
              </a:lnSpc>
              <a:buNone/>
            </a:pPr>
            <a:r>
              <a:rPr lang="en-US" sz="1150">
                <a:solidFill>
                  <a:srgbClr val="161613"/>
                </a:solidFill>
                <a:latin typeface="Inter" pitchFamily="34" charset="0"/>
                <a:ea typeface="Inter" pitchFamily="34" charset="-122"/>
                <a:cs typeface="Inter" pitchFamily="34" charset="-120"/>
              </a:rPr>
              <a:t>Each stage operates seamlessly within the operating system layer, ensuring minimal overhead while delivering measurable improvements in file access performance.</a:t>
            </a:r>
            <a:endParaRPr lang="en-US" sz="11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568027"/>
            <a:ext cx="1326125" cy="240308"/>
          </a:xfrm>
          <a:prstGeom prst="roundRect">
            <a:avLst>
              <a:gd name="adj" fmla="val 7898"/>
            </a:avLst>
          </a:prstGeom>
          <a:noFill/>
          <a:ln w="6350">
            <a:solidFill>
              <a:srgbClr val="28282F"/>
            </a:solidFill>
            <a:prstDash val="solid"/>
          </a:ln>
        </p:spPr>
      </p:sp>
      <p:sp>
        <p:nvSpPr>
          <p:cNvPr id="3" name="Text 1"/>
          <p:cNvSpPr/>
          <p:nvPr/>
        </p:nvSpPr>
        <p:spPr>
          <a:xfrm>
            <a:off x="756326" y="615454"/>
            <a:ext cx="1746008" cy="145455"/>
          </a:xfrm>
          <a:prstGeom prst="rect">
            <a:avLst/>
          </a:prstGeom>
          <a:noFill/>
          <a:ln/>
        </p:spPr>
        <p:txBody>
          <a:bodyPr wrap="none" lIns="0" tIns="0" rIns="0" bIns="0" rtlCol="0" anchor="t"/>
          <a:lstStyle/>
          <a:p>
            <a:pPr marL="0" indent="0" algn="l">
              <a:lnSpc>
                <a:spcPct val="96000"/>
              </a:lnSpc>
              <a:buNone/>
            </a:pPr>
            <a:r>
              <a:rPr lang="en-US" sz="950">
                <a:solidFill>
                  <a:srgbClr val="28282F"/>
                </a:solidFill>
                <a:latin typeface="Inter" pitchFamily="34" charset="0"/>
                <a:ea typeface="Inter" pitchFamily="34" charset="-122"/>
                <a:cs typeface="Inter" pitchFamily="34" charset="-120"/>
              </a:rPr>
              <a:t>EXISTING SYSTEM</a:t>
            </a:r>
            <a:endParaRPr lang="en-US" sz="950"/>
          </a:p>
        </p:txBody>
      </p:sp>
      <p:sp>
        <p:nvSpPr>
          <p:cNvPr id="4" name="Text 2"/>
          <p:cNvSpPr/>
          <p:nvPr/>
        </p:nvSpPr>
        <p:spPr>
          <a:xfrm>
            <a:off x="661475" y="861219"/>
            <a:ext cx="10868745" cy="494209"/>
          </a:xfrm>
          <a:prstGeom prst="rect">
            <a:avLst/>
          </a:prstGeom>
          <a:noFill/>
          <a:ln/>
        </p:spPr>
        <p:txBody>
          <a:bodyPr wrap="none" lIns="0" tIns="0" rIns="0" bIns="0" rtlCol="0" anchor="t"/>
          <a:lstStyle/>
          <a:p>
            <a:pPr marL="0" indent="0" algn="l">
              <a:lnSpc>
                <a:spcPct val="104000"/>
              </a:lnSpc>
              <a:buNone/>
            </a:pPr>
            <a:r>
              <a:rPr lang="en-US" sz="3100">
                <a:solidFill>
                  <a:srgbClr val="161613"/>
                </a:solidFill>
                <a:latin typeface="DM Sans Medium" pitchFamily="34" charset="0"/>
                <a:ea typeface="DM Sans Medium" pitchFamily="34" charset="-122"/>
                <a:cs typeface="DM Sans Medium" pitchFamily="34" charset="-120"/>
              </a:rPr>
              <a:t>Existing System</a:t>
            </a:r>
            <a:endParaRPr lang="en-US" sz="3100"/>
          </a:p>
        </p:txBody>
      </p:sp>
      <p:sp>
        <p:nvSpPr>
          <p:cNvPr id="5" name="Text 3"/>
          <p:cNvSpPr/>
          <p:nvPr/>
        </p:nvSpPr>
        <p:spPr>
          <a:xfrm>
            <a:off x="661475" y="1553865"/>
            <a:ext cx="10868745" cy="464741"/>
          </a:xfrm>
          <a:prstGeom prst="rect">
            <a:avLst/>
          </a:prstGeom>
          <a:noFill/>
          <a:ln/>
        </p:spPr>
        <p:txBody>
          <a:bodyPr wrap="square" lIns="0" tIns="0" rIns="0" bIns="0" rtlCol="0" anchor="t">
            <a:normAutofit/>
          </a:bodyPr>
          <a:lstStyle/>
          <a:p>
            <a:pPr marL="0" indent="0" algn="l">
              <a:lnSpc>
                <a:spcPct val="122000"/>
              </a:lnSpc>
              <a:buNone/>
            </a:pPr>
            <a:r>
              <a:rPr lang="en-US" sz="1200">
                <a:solidFill>
                  <a:srgbClr val="161613"/>
                </a:solidFill>
                <a:latin typeface="Inter" pitchFamily="34" charset="0"/>
                <a:ea typeface="Inter" pitchFamily="34" charset="-122"/>
                <a:cs typeface="Inter" pitchFamily="34" charset="-120"/>
              </a:rPr>
              <a:t>Traditional operating systems respond to file requests only after the user initiates them. There is no mechanism to anticipate future access behaviour — the system reacts rather than predicts.</a:t>
            </a:r>
            <a:endParaRPr lang="en-US" sz="1200"/>
          </a:p>
        </p:txBody>
      </p:sp>
      <p:pic>
        <p:nvPicPr>
          <p:cNvPr id="6" name="Image 0" descr="preencoded.png"/>
          <p:cNvPicPr>
            <a:picLocks noChangeAspect="1"/>
          </p:cNvPicPr>
          <p:nvPr/>
        </p:nvPicPr>
        <p:blipFill>
          <a:blip r:embed="rId3"/>
          <a:stretch>
            <a:fillRect/>
          </a:stretch>
        </p:blipFill>
        <p:spPr>
          <a:xfrm>
            <a:off x="3543410" y="2167434"/>
            <a:ext cx="5104875" cy="2336403"/>
          </a:xfrm>
          <a:prstGeom prst="rect">
            <a:avLst/>
          </a:prstGeom>
        </p:spPr>
      </p:pic>
      <p:sp>
        <p:nvSpPr>
          <p:cNvPr id="7" name="Text 4"/>
          <p:cNvSpPr/>
          <p:nvPr/>
        </p:nvSpPr>
        <p:spPr>
          <a:xfrm>
            <a:off x="7452242" y="3949014"/>
            <a:ext cx="958407" cy="184629"/>
          </a:xfrm>
          <a:prstGeom prst="rect">
            <a:avLst/>
          </a:prstGeom>
          <a:noFill/>
          <a:ln/>
        </p:spPr>
        <p:txBody>
          <a:bodyPr wrap="none" lIns="0" tIns="0" rIns="0" bIns="0" rtlCol="0" anchor="t"/>
          <a:lstStyle/>
          <a:p>
            <a:pPr marL="0" indent="0" algn="ctr">
              <a:lnSpc>
                <a:spcPct val="104000"/>
              </a:lnSpc>
              <a:buNone/>
            </a:pPr>
            <a:r>
              <a:rPr lang="en-US" sz="1150">
                <a:solidFill>
                  <a:srgbClr val="161613"/>
                </a:solidFill>
                <a:latin typeface="DM Sans Medium" pitchFamily="34" charset="0"/>
                <a:ea typeface="DM Sans Medium" pitchFamily="34" charset="-122"/>
                <a:cs typeface="DM Sans Medium" pitchFamily="34" charset="-120"/>
              </a:rPr>
              <a:t>Disk I/O</a:t>
            </a:r>
            <a:endParaRPr lang="en-US" sz="1150"/>
          </a:p>
        </p:txBody>
      </p:sp>
      <p:sp>
        <p:nvSpPr>
          <p:cNvPr id="8" name="Text 5"/>
          <p:cNvSpPr/>
          <p:nvPr/>
        </p:nvSpPr>
        <p:spPr>
          <a:xfrm>
            <a:off x="6244387" y="3949014"/>
            <a:ext cx="958407" cy="184629"/>
          </a:xfrm>
          <a:prstGeom prst="rect">
            <a:avLst/>
          </a:prstGeom>
          <a:noFill/>
          <a:ln/>
        </p:spPr>
        <p:txBody>
          <a:bodyPr wrap="none" lIns="0" tIns="0" rIns="0" bIns="0" rtlCol="0" anchor="t"/>
          <a:lstStyle/>
          <a:p>
            <a:pPr marL="0" indent="0" algn="ctr">
              <a:lnSpc>
                <a:spcPct val="104000"/>
              </a:lnSpc>
              <a:buNone/>
            </a:pPr>
            <a:r>
              <a:rPr lang="en-US" sz="1150">
                <a:solidFill>
                  <a:srgbClr val="161613"/>
                </a:solidFill>
                <a:latin typeface="DM Sans Medium" pitchFamily="34" charset="0"/>
                <a:ea typeface="DM Sans Medium" pitchFamily="34" charset="-122"/>
                <a:cs typeface="DM Sans Medium" pitchFamily="34" charset="-120"/>
              </a:rPr>
              <a:t>File System</a:t>
            </a:r>
            <a:endParaRPr lang="en-US" sz="1150"/>
          </a:p>
        </p:txBody>
      </p:sp>
      <p:sp>
        <p:nvSpPr>
          <p:cNvPr id="9" name="Text 6"/>
          <p:cNvSpPr/>
          <p:nvPr/>
        </p:nvSpPr>
        <p:spPr>
          <a:xfrm>
            <a:off x="5043097" y="3856700"/>
            <a:ext cx="958407" cy="369258"/>
          </a:xfrm>
          <a:prstGeom prst="rect">
            <a:avLst/>
          </a:prstGeom>
          <a:noFill/>
          <a:ln/>
        </p:spPr>
        <p:txBody>
          <a:bodyPr wrap="square" lIns="0" tIns="0" rIns="0" bIns="0" rtlCol="0" anchor="t">
            <a:normAutofit/>
          </a:bodyPr>
          <a:lstStyle/>
          <a:p>
            <a:pPr marL="0" indent="0" algn="ctr">
              <a:lnSpc>
                <a:spcPct val="104000"/>
              </a:lnSpc>
              <a:buNone/>
            </a:pPr>
            <a:r>
              <a:rPr lang="en-US" sz="1150">
                <a:solidFill>
                  <a:srgbClr val="161613"/>
                </a:solidFill>
                <a:latin typeface="DM Sans Medium" pitchFamily="34" charset="0"/>
                <a:ea typeface="DM Sans Medium" pitchFamily="34" charset="-122"/>
                <a:cs typeface="DM Sans Medium" pitchFamily="34" charset="-120"/>
              </a:rPr>
              <a:t>Operating System</a:t>
            </a:r>
            <a:endParaRPr lang="en-US" sz="1150"/>
          </a:p>
        </p:txBody>
      </p:sp>
      <p:sp>
        <p:nvSpPr>
          <p:cNvPr id="10" name="Text 7"/>
          <p:cNvSpPr/>
          <p:nvPr/>
        </p:nvSpPr>
        <p:spPr>
          <a:xfrm>
            <a:off x="3815548" y="3949014"/>
            <a:ext cx="958407" cy="184629"/>
          </a:xfrm>
          <a:prstGeom prst="rect">
            <a:avLst/>
          </a:prstGeom>
          <a:noFill/>
          <a:ln/>
        </p:spPr>
        <p:txBody>
          <a:bodyPr wrap="none" lIns="0" tIns="0" rIns="0" bIns="0" rtlCol="0" anchor="t"/>
          <a:lstStyle/>
          <a:p>
            <a:pPr marL="0" indent="0" algn="ctr">
              <a:lnSpc>
                <a:spcPct val="104000"/>
              </a:lnSpc>
              <a:buNone/>
            </a:pPr>
            <a:r>
              <a:rPr lang="en-US" sz="1150">
                <a:solidFill>
                  <a:srgbClr val="161613"/>
                </a:solidFill>
                <a:latin typeface="DM Sans Medium" pitchFamily="34" charset="0"/>
                <a:ea typeface="DM Sans Medium" pitchFamily="34" charset="-122"/>
                <a:cs typeface="DM Sans Medium" pitchFamily="34" charset="-120"/>
              </a:rPr>
              <a:t>User Request</a:t>
            </a:r>
            <a:endParaRPr lang="en-US" sz="1150"/>
          </a:p>
        </p:txBody>
      </p:sp>
      <p:sp>
        <p:nvSpPr>
          <p:cNvPr id="11" name="Text 8"/>
          <p:cNvSpPr/>
          <p:nvPr/>
        </p:nvSpPr>
        <p:spPr>
          <a:xfrm>
            <a:off x="661475" y="4652665"/>
            <a:ext cx="10868745" cy="464741"/>
          </a:xfrm>
          <a:prstGeom prst="rect">
            <a:avLst/>
          </a:prstGeom>
          <a:noFill/>
          <a:ln/>
        </p:spPr>
        <p:txBody>
          <a:bodyPr wrap="square" lIns="0" tIns="0" rIns="0" bIns="0" rtlCol="0" anchor="t">
            <a:normAutofit/>
          </a:bodyPr>
          <a:lstStyle/>
          <a:p>
            <a:pPr marL="0" indent="0" algn="l">
              <a:lnSpc>
                <a:spcPct val="122000"/>
              </a:lnSpc>
              <a:buNone/>
            </a:pPr>
            <a:r>
              <a:rPr lang="en-US" sz="1200">
                <a:solidFill>
                  <a:srgbClr val="161613"/>
                </a:solidFill>
                <a:latin typeface="Inter" pitchFamily="34" charset="0"/>
                <a:ea typeface="Inter" pitchFamily="34" charset="-122"/>
                <a:cs typeface="Inter" pitchFamily="34" charset="-120"/>
              </a:rPr>
              <a:t>The conventional file access pipeline follows a strictly reactive path — every stage is triggered only after the previous one completes, introducing inherent latency at each transition.</a:t>
            </a:r>
            <a:endParaRPr lang="en-US" sz="1200"/>
          </a:p>
        </p:txBody>
      </p:sp>
      <p:sp>
        <p:nvSpPr>
          <p:cNvPr id="12" name="Shape 9"/>
          <p:cNvSpPr/>
          <p:nvPr/>
        </p:nvSpPr>
        <p:spPr>
          <a:xfrm>
            <a:off x="661475" y="5350272"/>
            <a:ext cx="79075" cy="79077"/>
          </a:xfrm>
          <a:prstGeom prst="ellipse">
            <a:avLst/>
          </a:prstGeom>
          <a:solidFill>
            <a:srgbClr val="28282F"/>
          </a:solidFill>
          <a:ln/>
        </p:spPr>
      </p:sp>
      <p:sp>
        <p:nvSpPr>
          <p:cNvPr id="13" name="Text 10"/>
          <p:cNvSpPr/>
          <p:nvPr/>
        </p:nvSpPr>
        <p:spPr>
          <a:xfrm>
            <a:off x="872806" y="5266234"/>
            <a:ext cx="2381786" cy="247154"/>
          </a:xfrm>
          <a:prstGeom prst="rect">
            <a:avLst/>
          </a:prstGeom>
          <a:noFill/>
          <a:ln/>
        </p:spPr>
        <p:txBody>
          <a:bodyPr wrap="none" lIns="0" tIns="0" rIns="0" bIns="0" rtlCol="0" anchor="t"/>
          <a:lstStyle/>
          <a:p>
            <a:pPr marL="0" indent="0" algn="l">
              <a:lnSpc>
                <a:spcPct val="104000"/>
              </a:lnSpc>
              <a:buNone/>
            </a:pPr>
            <a:r>
              <a:rPr lang="en-US" sz="1550">
                <a:solidFill>
                  <a:srgbClr val="161613"/>
                </a:solidFill>
                <a:latin typeface="DM Sans Medium" pitchFamily="34" charset="0"/>
                <a:ea typeface="DM Sans Medium" pitchFamily="34" charset="-122"/>
                <a:cs typeface="DM Sans Medium" pitchFamily="34" charset="-120"/>
              </a:rPr>
              <a:t>Manual Access</a:t>
            </a:r>
            <a:endParaRPr lang="en-US" sz="1550"/>
          </a:p>
        </p:txBody>
      </p:sp>
      <p:sp>
        <p:nvSpPr>
          <p:cNvPr id="14" name="Text 11"/>
          <p:cNvSpPr/>
          <p:nvPr/>
        </p:nvSpPr>
        <p:spPr>
          <a:xfrm>
            <a:off x="872806" y="5592763"/>
            <a:ext cx="2381786" cy="697111"/>
          </a:xfrm>
          <a:prstGeom prst="rect">
            <a:avLst/>
          </a:prstGeom>
          <a:noFill/>
          <a:ln/>
        </p:spPr>
        <p:txBody>
          <a:bodyPr wrap="square" lIns="0" tIns="0" rIns="0" bIns="0" rtlCol="0" anchor="t">
            <a:normAutofit/>
          </a:bodyPr>
          <a:lstStyle/>
          <a:p>
            <a:pPr marL="0" indent="0" algn="l">
              <a:lnSpc>
                <a:spcPct val="122000"/>
              </a:lnSpc>
              <a:buNone/>
            </a:pPr>
            <a:r>
              <a:rPr lang="en-US" sz="1200">
                <a:solidFill>
                  <a:srgbClr val="161613"/>
                </a:solidFill>
                <a:latin typeface="Inter" pitchFamily="34" charset="0"/>
                <a:ea typeface="Inter" pitchFamily="34" charset="-122"/>
                <a:cs typeface="Inter" pitchFamily="34" charset="-120"/>
              </a:rPr>
              <a:t>Users explicitly request each file; no proactive loading occurs.</a:t>
            </a:r>
            <a:endParaRPr lang="en-US" sz="1200"/>
          </a:p>
        </p:txBody>
      </p:sp>
      <p:sp>
        <p:nvSpPr>
          <p:cNvPr id="15" name="Shape 12"/>
          <p:cNvSpPr/>
          <p:nvPr/>
        </p:nvSpPr>
        <p:spPr>
          <a:xfrm>
            <a:off x="3419985" y="5350272"/>
            <a:ext cx="79075" cy="79077"/>
          </a:xfrm>
          <a:prstGeom prst="ellipse">
            <a:avLst/>
          </a:prstGeom>
          <a:solidFill>
            <a:srgbClr val="28282F"/>
          </a:solidFill>
          <a:ln/>
        </p:spPr>
      </p:sp>
      <p:sp>
        <p:nvSpPr>
          <p:cNvPr id="16" name="Text 13"/>
          <p:cNvSpPr/>
          <p:nvPr/>
        </p:nvSpPr>
        <p:spPr>
          <a:xfrm>
            <a:off x="3631315" y="5266234"/>
            <a:ext cx="2381786" cy="247154"/>
          </a:xfrm>
          <a:prstGeom prst="rect">
            <a:avLst/>
          </a:prstGeom>
          <a:noFill/>
          <a:ln/>
        </p:spPr>
        <p:txBody>
          <a:bodyPr wrap="none" lIns="0" tIns="0" rIns="0" bIns="0" rtlCol="0" anchor="t"/>
          <a:lstStyle/>
          <a:p>
            <a:pPr marL="0" indent="0" algn="l">
              <a:lnSpc>
                <a:spcPct val="104000"/>
              </a:lnSpc>
              <a:buNone/>
            </a:pPr>
            <a:r>
              <a:rPr lang="en-US" sz="1550">
                <a:solidFill>
                  <a:srgbClr val="161613"/>
                </a:solidFill>
                <a:latin typeface="DM Sans Medium" pitchFamily="34" charset="0"/>
                <a:ea typeface="DM Sans Medium" pitchFamily="34" charset="-122"/>
                <a:cs typeface="DM Sans Medium" pitchFamily="34" charset="-120"/>
              </a:rPr>
              <a:t>Traditional Caching</a:t>
            </a:r>
            <a:endParaRPr lang="en-US" sz="1550"/>
          </a:p>
        </p:txBody>
      </p:sp>
      <p:sp>
        <p:nvSpPr>
          <p:cNvPr id="17" name="Text 14"/>
          <p:cNvSpPr/>
          <p:nvPr/>
        </p:nvSpPr>
        <p:spPr>
          <a:xfrm>
            <a:off x="3631315" y="5592763"/>
            <a:ext cx="2381786" cy="697111"/>
          </a:xfrm>
          <a:prstGeom prst="rect">
            <a:avLst/>
          </a:prstGeom>
          <a:noFill/>
          <a:ln/>
        </p:spPr>
        <p:txBody>
          <a:bodyPr wrap="square" lIns="0" tIns="0" rIns="0" bIns="0" rtlCol="0" anchor="t">
            <a:normAutofit/>
          </a:bodyPr>
          <a:lstStyle/>
          <a:p>
            <a:pPr marL="0" indent="0" algn="l">
              <a:lnSpc>
                <a:spcPct val="122000"/>
              </a:lnSpc>
              <a:buNone/>
            </a:pPr>
            <a:r>
              <a:rPr lang="en-US" sz="1200">
                <a:solidFill>
                  <a:srgbClr val="161613"/>
                </a:solidFill>
                <a:latin typeface="Inter" pitchFamily="34" charset="0"/>
                <a:ea typeface="Inter" pitchFamily="34" charset="-122"/>
                <a:cs typeface="Inter" pitchFamily="34" charset="-120"/>
              </a:rPr>
              <a:t>Recently used files are cached, but without behavioural intelligence.</a:t>
            </a:r>
            <a:endParaRPr lang="en-US" sz="1200"/>
          </a:p>
        </p:txBody>
      </p:sp>
      <p:sp>
        <p:nvSpPr>
          <p:cNvPr id="18" name="Shape 15"/>
          <p:cNvSpPr/>
          <p:nvPr/>
        </p:nvSpPr>
        <p:spPr>
          <a:xfrm>
            <a:off x="6178495" y="5350272"/>
            <a:ext cx="79075" cy="79077"/>
          </a:xfrm>
          <a:prstGeom prst="ellipse">
            <a:avLst/>
          </a:prstGeom>
          <a:solidFill>
            <a:srgbClr val="28282F"/>
          </a:solidFill>
          <a:ln/>
        </p:spPr>
      </p:sp>
      <p:sp>
        <p:nvSpPr>
          <p:cNvPr id="19" name="Text 16"/>
          <p:cNvSpPr/>
          <p:nvPr/>
        </p:nvSpPr>
        <p:spPr>
          <a:xfrm>
            <a:off x="6389825" y="5266234"/>
            <a:ext cx="2381786" cy="247154"/>
          </a:xfrm>
          <a:prstGeom prst="rect">
            <a:avLst/>
          </a:prstGeom>
          <a:noFill/>
          <a:ln/>
        </p:spPr>
        <p:txBody>
          <a:bodyPr wrap="none" lIns="0" tIns="0" rIns="0" bIns="0" rtlCol="0" anchor="t"/>
          <a:lstStyle/>
          <a:p>
            <a:pPr marL="0" indent="0" algn="l">
              <a:lnSpc>
                <a:spcPct val="104000"/>
              </a:lnSpc>
              <a:buNone/>
            </a:pPr>
            <a:r>
              <a:rPr lang="en-US" sz="1550">
                <a:solidFill>
                  <a:srgbClr val="161613"/>
                </a:solidFill>
                <a:latin typeface="DM Sans Medium" pitchFamily="34" charset="0"/>
                <a:ea typeface="DM Sans Medium" pitchFamily="34" charset="-122"/>
                <a:cs typeface="DM Sans Medium" pitchFamily="34" charset="-120"/>
              </a:rPr>
              <a:t>Disk-Based Retrieval</a:t>
            </a:r>
            <a:endParaRPr lang="en-US" sz="1550"/>
          </a:p>
        </p:txBody>
      </p:sp>
      <p:sp>
        <p:nvSpPr>
          <p:cNvPr id="20" name="Text 17"/>
          <p:cNvSpPr/>
          <p:nvPr/>
        </p:nvSpPr>
        <p:spPr>
          <a:xfrm>
            <a:off x="6389825" y="5592763"/>
            <a:ext cx="2381786" cy="464741"/>
          </a:xfrm>
          <a:prstGeom prst="rect">
            <a:avLst/>
          </a:prstGeom>
          <a:noFill/>
          <a:ln/>
        </p:spPr>
        <p:txBody>
          <a:bodyPr wrap="square" lIns="0" tIns="0" rIns="0" bIns="0" rtlCol="0" anchor="t">
            <a:normAutofit/>
          </a:bodyPr>
          <a:lstStyle/>
          <a:p>
            <a:pPr marL="0" indent="0" algn="l">
              <a:lnSpc>
                <a:spcPct val="122000"/>
              </a:lnSpc>
              <a:buNone/>
            </a:pPr>
            <a:r>
              <a:rPr lang="en-US" sz="1200">
                <a:solidFill>
                  <a:srgbClr val="161613"/>
                </a:solidFill>
                <a:latin typeface="Inter" pitchFamily="34" charset="0"/>
                <a:ea typeface="Inter" pitchFamily="34" charset="-122"/>
                <a:cs typeface="Inter" pitchFamily="34" charset="-120"/>
              </a:rPr>
              <a:t>Every miss results in a full disk I/O operation, incurring latency.</a:t>
            </a:r>
            <a:endParaRPr lang="en-US" sz="1200"/>
          </a:p>
        </p:txBody>
      </p:sp>
      <p:sp>
        <p:nvSpPr>
          <p:cNvPr id="21" name="Shape 18"/>
          <p:cNvSpPr/>
          <p:nvPr/>
        </p:nvSpPr>
        <p:spPr>
          <a:xfrm>
            <a:off x="8937005" y="5350272"/>
            <a:ext cx="79075" cy="79077"/>
          </a:xfrm>
          <a:prstGeom prst="ellipse">
            <a:avLst/>
          </a:prstGeom>
          <a:solidFill>
            <a:srgbClr val="28282F"/>
          </a:solidFill>
          <a:ln/>
        </p:spPr>
      </p:sp>
      <p:sp>
        <p:nvSpPr>
          <p:cNvPr id="22" name="Text 19"/>
          <p:cNvSpPr/>
          <p:nvPr/>
        </p:nvSpPr>
        <p:spPr>
          <a:xfrm>
            <a:off x="9148335" y="5266234"/>
            <a:ext cx="2381885" cy="247154"/>
          </a:xfrm>
          <a:prstGeom prst="rect">
            <a:avLst/>
          </a:prstGeom>
          <a:noFill/>
          <a:ln/>
        </p:spPr>
        <p:txBody>
          <a:bodyPr wrap="none" lIns="0" tIns="0" rIns="0" bIns="0" rtlCol="0" anchor="t"/>
          <a:lstStyle/>
          <a:p>
            <a:pPr marL="0" indent="0" algn="l">
              <a:lnSpc>
                <a:spcPct val="104000"/>
              </a:lnSpc>
              <a:buNone/>
            </a:pPr>
            <a:r>
              <a:rPr lang="en-US" sz="1550">
                <a:solidFill>
                  <a:srgbClr val="161613"/>
                </a:solidFill>
                <a:latin typeface="DM Sans Medium" pitchFamily="34" charset="0"/>
                <a:ea typeface="DM Sans Medium" pitchFamily="34" charset="-122"/>
                <a:cs typeface="DM Sans Medium" pitchFamily="34" charset="-120"/>
              </a:rPr>
              <a:t>Static Behaviour</a:t>
            </a:r>
            <a:endParaRPr lang="en-US" sz="1550"/>
          </a:p>
        </p:txBody>
      </p:sp>
      <p:sp>
        <p:nvSpPr>
          <p:cNvPr id="23" name="Text 20"/>
          <p:cNvSpPr/>
          <p:nvPr/>
        </p:nvSpPr>
        <p:spPr>
          <a:xfrm>
            <a:off x="9148335" y="5592763"/>
            <a:ext cx="2381885" cy="697111"/>
          </a:xfrm>
          <a:prstGeom prst="rect">
            <a:avLst/>
          </a:prstGeom>
          <a:noFill/>
          <a:ln/>
        </p:spPr>
        <p:txBody>
          <a:bodyPr wrap="square" lIns="0" tIns="0" rIns="0" bIns="0" rtlCol="0" anchor="t">
            <a:normAutofit/>
          </a:bodyPr>
          <a:lstStyle/>
          <a:p>
            <a:pPr marL="0" indent="0" algn="l">
              <a:lnSpc>
                <a:spcPct val="122000"/>
              </a:lnSpc>
              <a:buNone/>
            </a:pPr>
            <a:r>
              <a:rPr lang="en-US" sz="1200">
                <a:solidFill>
                  <a:srgbClr val="161613"/>
                </a:solidFill>
                <a:latin typeface="Inter" pitchFamily="34" charset="0"/>
                <a:ea typeface="Inter" pitchFamily="34" charset="-122"/>
                <a:cs typeface="Inter" pitchFamily="34" charset="-120"/>
              </a:rPr>
              <a:t>The system does not adapt or learn from user access patterns over time.</a:t>
            </a:r>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696912"/>
            <a:ext cx="1228198" cy="186630"/>
          </a:xfrm>
          <a:prstGeom prst="roundRect">
            <a:avLst>
              <a:gd name="adj" fmla="val 7900"/>
            </a:avLst>
          </a:prstGeom>
          <a:noFill/>
          <a:ln w="6350">
            <a:solidFill>
              <a:srgbClr val="28282F"/>
            </a:solidFill>
            <a:prstDash val="solid"/>
          </a:ln>
        </p:spPr>
      </p:sp>
      <p:sp>
        <p:nvSpPr>
          <p:cNvPr id="3" name="Text 1"/>
          <p:cNvSpPr/>
          <p:nvPr/>
        </p:nvSpPr>
        <p:spPr>
          <a:xfrm>
            <a:off x="735093" y="733723"/>
            <a:ext cx="1690546" cy="113010"/>
          </a:xfrm>
          <a:prstGeom prst="rect">
            <a:avLst/>
          </a:prstGeom>
          <a:noFill/>
          <a:ln/>
        </p:spPr>
        <p:txBody>
          <a:bodyPr wrap="none" lIns="0" tIns="0" rIns="0" bIns="0" rtlCol="0" anchor="t"/>
          <a:lstStyle/>
          <a:p>
            <a:pPr marL="0" indent="0" algn="l">
              <a:lnSpc>
                <a:spcPct val="96000"/>
              </a:lnSpc>
              <a:buNone/>
            </a:pPr>
            <a:r>
              <a:rPr lang="en-US" sz="750">
                <a:solidFill>
                  <a:srgbClr val="28282F"/>
                </a:solidFill>
                <a:latin typeface="Inter" pitchFamily="34" charset="0"/>
                <a:ea typeface="Inter" pitchFamily="34" charset="-122"/>
                <a:cs typeface="Inter" pitchFamily="34" charset="-120"/>
              </a:rPr>
              <a:t>PROBLEM STATEMENT</a:t>
            </a:r>
            <a:endParaRPr lang="en-US" sz="750"/>
          </a:p>
        </p:txBody>
      </p:sp>
      <p:sp>
        <p:nvSpPr>
          <p:cNvPr id="4" name="Text 2"/>
          <p:cNvSpPr/>
          <p:nvPr/>
        </p:nvSpPr>
        <p:spPr>
          <a:xfrm>
            <a:off x="661475" y="915392"/>
            <a:ext cx="10868745" cy="383977"/>
          </a:xfrm>
          <a:prstGeom prst="rect">
            <a:avLst/>
          </a:prstGeom>
          <a:noFill/>
          <a:ln/>
        </p:spPr>
        <p:txBody>
          <a:bodyPr wrap="none" lIns="0" tIns="0" rIns="0" bIns="0" rtlCol="0" anchor="t"/>
          <a:lstStyle/>
          <a:p>
            <a:pPr marL="0" indent="0" algn="l">
              <a:lnSpc>
                <a:spcPct val="104000"/>
              </a:lnSpc>
              <a:buNone/>
            </a:pPr>
            <a:r>
              <a:rPr lang="en-US" sz="2400">
                <a:solidFill>
                  <a:srgbClr val="161613"/>
                </a:solidFill>
                <a:latin typeface="DM Sans Medium" pitchFamily="34" charset="0"/>
                <a:ea typeface="DM Sans Medium" pitchFamily="34" charset="-122"/>
                <a:cs typeface="DM Sans Medium" pitchFamily="34" charset="-120"/>
              </a:rPr>
              <a:t>Drawbacks of Existing System</a:t>
            </a:r>
            <a:endParaRPr lang="en-US" sz="240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419126"/>
            <a:ext cx="10868745" cy="737096"/>
          </a:xfrm>
          <a:prstGeom prst="rect">
            <a:avLst/>
          </a:prstGeom>
        </p:spPr>
      </p:pic>
      <p:sp>
        <p:nvSpPr>
          <p:cNvPr id="6" name="Text 3"/>
          <p:cNvSpPr/>
          <p:nvPr/>
        </p:nvSpPr>
        <p:spPr>
          <a:xfrm>
            <a:off x="827761" y="1672530"/>
            <a:ext cx="184245" cy="230287"/>
          </a:xfrm>
          <a:prstGeom prst="rect">
            <a:avLst/>
          </a:prstGeom>
          <a:noFill/>
          <a:ln/>
        </p:spPr>
        <p:txBody>
          <a:bodyPr wrap="none" lIns="0" tIns="0" rIns="0" bIns="0" rtlCol="0" anchor="ctr"/>
          <a:lstStyle/>
          <a:p>
            <a:pPr marL="0" indent="0" algn="ctr">
              <a:lnSpc>
                <a:spcPct val="100000"/>
              </a:lnSpc>
              <a:buNone/>
            </a:pPr>
            <a:r>
              <a:rPr lang="en-US" sz="1450">
                <a:solidFill>
                  <a:srgbClr val="161613"/>
                </a:solidFill>
                <a:latin typeface="DM Sans Medium" pitchFamily="34" charset="0"/>
                <a:ea typeface="DM Sans Medium" pitchFamily="34" charset="-122"/>
                <a:cs typeface="DM Sans Medium" pitchFamily="34" charset="-120"/>
              </a:rPr>
              <a:t>1</a:t>
            </a:r>
            <a:endParaRPr lang="en-US" sz="1450"/>
          </a:p>
        </p:txBody>
      </p:sp>
      <p:sp>
        <p:nvSpPr>
          <p:cNvPr id="7" name="Text 4"/>
          <p:cNvSpPr/>
          <p:nvPr/>
        </p:nvSpPr>
        <p:spPr>
          <a:xfrm>
            <a:off x="1245363" y="1554659"/>
            <a:ext cx="10149328" cy="191988"/>
          </a:xfrm>
          <a:prstGeom prst="rect">
            <a:avLst/>
          </a:prstGeom>
          <a:noFill/>
          <a:ln/>
        </p:spPr>
        <p:txBody>
          <a:bodyPr wrap="none" lIns="0" tIns="0" rIns="0" bIns="0" rtlCol="0" anchor="t"/>
          <a:lstStyle/>
          <a:p>
            <a:pPr marL="0" indent="0" algn="l">
              <a:lnSpc>
                <a:spcPct val="104000"/>
              </a:lnSpc>
              <a:buNone/>
            </a:pPr>
            <a:r>
              <a:rPr lang="en-US" sz="1200">
                <a:solidFill>
                  <a:srgbClr val="161613"/>
                </a:solidFill>
                <a:latin typeface="DM Sans Medium" pitchFamily="34" charset="0"/>
                <a:ea typeface="DM Sans Medium" pitchFamily="34" charset="-122"/>
                <a:cs typeface="DM Sans Medium" pitchFamily="34" charset="-120"/>
              </a:rPr>
              <a:t>Higher Access Time</a:t>
            </a:r>
            <a:endParaRPr lang="en-US" sz="1200"/>
          </a:p>
        </p:txBody>
      </p:sp>
      <p:sp>
        <p:nvSpPr>
          <p:cNvPr id="8" name="Text 5"/>
          <p:cNvSpPr/>
          <p:nvPr/>
        </p:nvSpPr>
        <p:spPr>
          <a:xfrm>
            <a:off x="1245363" y="1794470"/>
            <a:ext cx="10149328" cy="162123"/>
          </a:xfrm>
          <a:prstGeom prst="rect">
            <a:avLst/>
          </a:prstGeom>
          <a:noFill/>
          <a:ln/>
        </p:spPr>
        <p:txBody>
          <a:bodyPr wrap="none" lIns="0" tIns="0" rIns="0" bIns="0" rtlCol="0" anchor="t"/>
          <a:lstStyle/>
          <a:p>
            <a:pPr marL="0" indent="0" algn="l">
              <a:lnSpc>
                <a:spcPct val="110000"/>
              </a:lnSpc>
              <a:buNone/>
            </a:pPr>
            <a:r>
              <a:rPr lang="en-US" sz="950">
                <a:solidFill>
                  <a:srgbClr val="161613"/>
                </a:solidFill>
                <a:latin typeface="Inter" pitchFamily="34" charset="0"/>
                <a:ea typeface="Inter" pitchFamily="34" charset="-122"/>
                <a:cs typeface="Inter" pitchFamily="34" charset="-120"/>
              </a:rPr>
              <a:t>Every file request incurs full disk retrieval latency with no pre-loading.</a:t>
            </a:r>
            <a:endParaRPr lang="en-US" sz="95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235994"/>
            <a:ext cx="10868745" cy="737096"/>
          </a:xfrm>
          <a:prstGeom prst="rect">
            <a:avLst/>
          </a:prstGeom>
        </p:spPr>
      </p:pic>
      <p:sp>
        <p:nvSpPr>
          <p:cNvPr id="10" name="Text 6"/>
          <p:cNvSpPr/>
          <p:nvPr/>
        </p:nvSpPr>
        <p:spPr>
          <a:xfrm>
            <a:off x="827761" y="2489398"/>
            <a:ext cx="184245" cy="230287"/>
          </a:xfrm>
          <a:prstGeom prst="rect">
            <a:avLst/>
          </a:prstGeom>
          <a:noFill/>
          <a:ln/>
        </p:spPr>
        <p:txBody>
          <a:bodyPr wrap="none" lIns="0" tIns="0" rIns="0" bIns="0" rtlCol="0" anchor="ctr"/>
          <a:lstStyle/>
          <a:p>
            <a:pPr marL="0" indent="0" algn="ctr">
              <a:lnSpc>
                <a:spcPct val="100000"/>
              </a:lnSpc>
              <a:buNone/>
            </a:pPr>
            <a:r>
              <a:rPr lang="en-US" sz="1450">
                <a:solidFill>
                  <a:srgbClr val="161613"/>
                </a:solidFill>
                <a:latin typeface="DM Sans Medium" pitchFamily="34" charset="0"/>
                <a:ea typeface="DM Sans Medium" pitchFamily="34" charset="-122"/>
                <a:cs typeface="DM Sans Medium" pitchFamily="34" charset="-120"/>
              </a:rPr>
              <a:t>2</a:t>
            </a:r>
            <a:endParaRPr lang="en-US" sz="1450"/>
          </a:p>
        </p:txBody>
      </p:sp>
      <p:sp>
        <p:nvSpPr>
          <p:cNvPr id="11" name="Text 7"/>
          <p:cNvSpPr/>
          <p:nvPr/>
        </p:nvSpPr>
        <p:spPr>
          <a:xfrm>
            <a:off x="1245363" y="2371527"/>
            <a:ext cx="10149328" cy="191988"/>
          </a:xfrm>
          <a:prstGeom prst="rect">
            <a:avLst/>
          </a:prstGeom>
          <a:noFill/>
          <a:ln/>
        </p:spPr>
        <p:txBody>
          <a:bodyPr wrap="none" lIns="0" tIns="0" rIns="0" bIns="0" rtlCol="0" anchor="t"/>
          <a:lstStyle/>
          <a:p>
            <a:pPr marL="0" indent="0" algn="l">
              <a:lnSpc>
                <a:spcPct val="104000"/>
              </a:lnSpc>
              <a:buNone/>
            </a:pPr>
            <a:r>
              <a:rPr lang="en-US" sz="1200">
                <a:solidFill>
                  <a:srgbClr val="161613"/>
                </a:solidFill>
                <a:latin typeface="DM Sans Medium" pitchFamily="34" charset="0"/>
                <a:ea typeface="DM Sans Medium" pitchFamily="34" charset="-122"/>
                <a:cs typeface="DM Sans Medium" pitchFamily="34" charset="-120"/>
              </a:rPr>
              <a:t>Unnecessary Disk I/O</a:t>
            </a:r>
            <a:endParaRPr lang="en-US" sz="1200"/>
          </a:p>
        </p:txBody>
      </p:sp>
      <p:sp>
        <p:nvSpPr>
          <p:cNvPr id="12" name="Text 8"/>
          <p:cNvSpPr/>
          <p:nvPr/>
        </p:nvSpPr>
        <p:spPr>
          <a:xfrm>
            <a:off x="1245363" y="2611338"/>
            <a:ext cx="10149328" cy="162123"/>
          </a:xfrm>
          <a:prstGeom prst="rect">
            <a:avLst/>
          </a:prstGeom>
          <a:noFill/>
          <a:ln/>
        </p:spPr>
        <p:txBody>
          <a:bodyPr wrap="none" lIns="0" tIns="0" rIns="0" bIns="0" rtlCol="0" anchor="t"/>
          <a:lstStyle/>
          <a:p>
            <a:pPr marL="0" indent="0" algn="l">
              <a:lnSpc>
                <a:spcPct val="110000"/>
              </a:lnSpc>
              <a:buNone/>
            </a:pPr>
            <a:r>
              <a:rPr lang="en-US" sz="950">
                <a:solidFill>
                  <a:srgbClr val="161613"/>
                </a:solidFill>
                <a:latin typeface="Inter" pitchFamily="34" charset="0"/>
                <a:ea typeface="Inter" pitchFamily="34" charset="-122"/>
                <a:cs typeface="Inter" pitchFamily="34" charset="-120"/>
              </a:rPr>
              <a:t>Repeated sequential reads generate avoidable disk operations, degrading performance.</a:t>
            </a:r>
            <a:endParaRPr lang="en-US" sz="950"/>
          </a:p>
        </p:txBody>
      </p:sp>
      <p:pic>
        <p:nvPicPr>
          <p:cNvPr id="13"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052862"/>
            <a:ext cx="10868745" cy="737096"/>
          </a:xfrm>
          <a:prstGeom prst="rect">
            <a:avLst/>
          </a:prstGeom>
        </p:spPr>
      </p:pic>
      <p:sp>
        <p:nvSpPr>
          <p:cNvPr id="14" name="Text 9"/>
          <p:cNvSpPr/>
          <p:nvPr/>
        </p:nvSpPr>
        <p:spPr>
          <a:xfrm>
            <a:off x="827761" y="3306266"/>
            <a:ext cx="184245" cy="230287"/>
          </a:xfrm>
          <a:prstGeom prst="rect">
            <a:avLst/>
          </a:prstGeom>
          <a:noFill/>
          <a:ln/>
        </p:spPr>
        <p:txBody>
          <a:bodyPr wrap="none" lIns="0" tIns="0" rIns="0" bIns="0" rtlCol="0" anchor="ctr"/>
          <a:lstStyle/>
          <a:p>
            <a:pPr marL="0" indent="0" algn="ctr">
              <a:lnSpc>
                <a:spcPct val="100000"/>
              </a:lnSpc>
              <a:buNone/>
            </a:pPr>
            <a:r>
              <a:rPr lang="en-US" sz="1450">
                <a:solidFill>
                  <a:srgbClr val="161613"/>
                </a:solidFill>
                <a:latin typeface="DM Sans Medium" pitchFamily="34" charset="0"/>
                <a:ea typeface="DM Sans Medium" pitchFamily="34" charset="-122"/>
                <a:cs typeface="DM Sans Medium" pitchFamily="34" charset="-120"/>
              </a:rPr>
              <a:t>3</a:t>
            </a:r>
            <a:endParaRPr lang="en-US" sz="1450"/>
          </a:p>
        </p:txBody>
      </p:sp>
      <p:sp>
        <p:nvSpPr>
          <p:cNvPr id="15" name="Text 10"/>
          <p:cNvSpPr/>
          <p:nvPr/>
        </p:nvSpPr>
        <p:spPr>
          <a:xfrm>
            <a:off x="1245363" y="3188395"/>
            <a:ext cx="10149328" cy="191988"/>
          </a:xfrm>
          <a:prstGeom prst="rect">
            <a:avLst/>
          </a:prstGeom>
          <a:noFill/>
          <a:ln/>
        </p:spPr>
        <p:txBody>
          <a:bodyPr wrap="none" lIns="0" tIns="0" rIns="0" bIns="0" rtlCol="0" anchor="t"/>
          <a:lstStyle/>
          <a:p>
            <a:pPr marL="0" indent="0" algn="l">
              <a:lnSpc>
                <a:spcPct val="104000"/>
              </a:lnSpc>
              <a:buNone/>
            </a:pPr>
            <a:r>
              <a:rPr lang="en-US" sz="1200">
                <a:solidFill>
                  <a:srgbClr val="161613"/>
                </a:solidFill>
                <a:latin typeface="DM Sans Medium" pitchFamily="34" charset="0"/>
                <a:ea typeface="DM Sans Medium" pitchFamily="34" charset="-122"/>
                <a:cs typeface="DM Sans Medium" pitchFamily="34" charset="-120"/>
              </a:rPr>
              <a:t>No User Behaviour Learning</a:t>
            </a:r>
            <a:endParaRPr lang="en-US" sz="1200"/>
          </a:p>
        </p:txBody>
      </p:sp>
      <p:sp>
        <p:nvSpPr>
          <p:cNvPr id="16" name="Text 11"/>
          <p:cNvSpPr/>
          <p:nvPr/>
        </p:nvSpPr>
        <p:spPr>
          <a:xfrm>
            <a:off x="1245363" y="3428206"/>
            <a:ext cx="10149328" cy="162123"/>
          </a:xfrm>
          <a:prstGeom prst="rect">
            <a:avLst/>
          </a:prstGeom>
          <a:noFill/>
          <a:ln/>
        </p:spPr>
        <p:txBody>
          <a:bodyPr wrap="none" lIns="0" tIns="0" rIns="0" bIns="0" rtlCol="0" anchor="t"/>
          <a:lstStyle/>
          <a:p>
            <a:pPr marL="0" indent="0" algn="l">
              <a:lnSpc>
                <a:spcPct val="110000"/>
              </a:lnSpc>
              <a:buNone/>
            </a:pPr>
            <a:r>
              <a:rPr lang="en-US" sz="950">
                <a:solidFill>
                  <a:srgbClr val="161613"/>
                </a:solidFill>
                <a:latin typeface="Inter" pitchFamily="34" charset="0"/>
                <a:ea typeface="Inter" pitchFamily="34" charset="-122"/>
                <a:cs typeface="Inter" pitchFamily="34" charset="-120"/>
              </a:rPr>
              <a:t>The system does not track or learn from individual user access habits.</a:t>
            </a:r>
            <a:endParaRPr lang="en-US" sz="950"/>
          </a:p>
        </p:txBody>
      </p:sp>
      <p:pic>
        <p:nvPicPr>
          <p:cNvPr id="17"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869730"/>
            <a:ext cx="10868745" cy="737096"/>
          </a:xfrm>
          <a:prstGeom prst="rect">
            <a:avLst/>
          </a:prstGeom>
        </p:spPr>
      </p:pic>
      <p:sp>
        <p:nvSpPr>
          <p:cNvPr id="18" name="Text 12"/>
          <p:cNvSpPr/>
          <p:nvPr/>
        </p:nvSpPr>
        <p:spPr>
          <a:xfrm>
            <a:off x="827761" y="4123134"/>
            <a:ext cx="184245" cy="230287"/>
          </a:xfrm>
          <a:prstGeom prst="rect">
            <a:avLst/>
          </a:prstGeom>
          <a:noFill/>
          <a:ln/>
        </p:spPr>
        <p:txBody>
          <a:bodyPr wrap="none" lIns="0" tIns="0" rIns="0" bIns="0" rtlCol="0" anchor="ctr"/>
          <a:lstStyle/>
          <a:p>
            <a:pPr marL="0" indent="0" algn="ctr">
              <a:lnSpc>
                <a:spcPct val="100000"/>
              </a:lnSpc>
              <a:buNone/>
            </a:pPr>
            <a:r>
              <a:rPr lang="en-US" sz="1450">
                <a:solidFill>
                  <a:srgbClr val="161613"/>
                </a:solidFill>
                <a:latin typeface="DM Sans Medium" pitchFamily="34" charset="0"/>
                <a:ea typeface="DM Sans Medium" pitchFamily="34" charset="-122"/>
                <a:cs typeface="DM Sans Medium" pitchFamily="34" charset="-120"/>
              </a:rPr>
              <a:t>4</a:t>
            </a:r>
            <a:endParaRPr lang="en-US" sz="1450"/>
          </a:p>
        </p:txBody>
      </p:sp>
      <p:sp>
        <p:nvSpPr>
          <p:cNvPr id="19" name="Text 13"/>
          <p:cNvSpPr/>
          <p:nvPr/>
        </p:nvSpPr>
        <p:spPr>
          <a:xfrm>
            <a:off x="1245363" y="4005263"/>
            <a:ext cx="10149328" cy="191988"/>
          </a:xfrm>
          <a:prstGeom prst="rect">
            <a:avLst/>
          </a:prstGeom>
          <a:noFill/>
          <a:ln/>
        </p:spPr>
        <p:txBody>
          <a:bodyPr wrap="none" lIns="0" tIns="0" rIns="0" bIns="0" rtlCol="0" anchor="t"/>
          <a:lstStyle/>
          <a:p>
            <a:pPr marL="0" indent="0" algn="l">
              <a:lnSpc>
                <a:spcPct val="104000"/>
              </a:lnSpc>
              <a:buNone/>
            </a:pPr>
            <a:r>
              <a:rPr lang="en-US" sz="1200">
                <a:solidFill>
                  <a:srgbClr val="161613"/>
                </a:solidFill>
                <a:latin typeface="DM Sans Medium" pitchFamily="34" charset="0"/>
                <a:ea typeface="DM Sans Medium" pitchFamily="34" charset="-122"/>
                <a:cs typeface="DM Sans Medium" pitchFamily="34" charset="-120"/>
              </a:rPr>
              <a:t>No Future Prediction</a:t>
            </a:r>
            <a:endParaRPr lang="en-US" sz="1200"/>
          </a:p>
        </p:txBody>
      </p:sp>
      <p:sp>
        <p:nvSpPr>
          <p:cNvPr id="20" name="Text 14"/>
          <p:cNvSpPr/>
          <p:nvPr/>
        </p:nvSpPr>
        <p:spPr>
          <a:xfrm>
            <a:off x="1245363" y="4245074"/>
            <a:ext cx="10149328" cy="162123"/>
          </a:xfrm>
          <a:prstGeom prst="rect">
            <a:avLst/>
          </a:prstGeom>
          <a:noFill/>
          <a:ln/>
        </p:spPr>
        <p:txBody>
          <a:bodyPr wrap="none" lIns="0" tIns="0" rIns="0" bIns="0" rtlCol="0" anchor="t"/>
          <a:lstStyle/>
          <a:p>
            <a:pPr marL="0" indent="0" algn="l">
              <a:lnSpc>
                <a:spcPct val="110000"/>
              </a:lnSpc>
              <a:buNone/>
            </a:pPr>
            <a:r>
              <a:rPr lang="en-US" sz="950">
                <a:solidFill>
                  <a:srgbClr val="161613"/>
                </a:solidFill>
                <a:latin typeface="Inter" pitchFamily="34" charset="0"/>
                <a:ea typeface="Inter" pitchFamily="34" charset="-122"/>
                <a:cs typeface="Inter" pitchFamily="34" charset="-120"/>
              </a:rPr>
              <a:t>There is no mechanism to anticipate which file will be needed next.</a:t>
            </a:r>
            <a:endParaRPr lang="en-US" sz="950"/>
          </a:p>
        </p:txBody>
      </p:sp>
      <p:pic>
        <p:nvPicPr>
          <p:cNvPr id="21"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686598"/>
            <a:ext cx="10868745" cy="737096"/>
          </a:xfrm>
          <a:prstGeom prst="rect">
            <a:avLst/>
          </a:prstGeom>
        </p:spPr>
      </p:pic>
      <p:sp>
        <p:nvSpPr>
          <p:cNvPr id="22" name="Text 15"/>
          <p:cNvSpPr/>
          <p:nvPr/>
        </p:nvSpPr>
        <p:spPr>
          <a:xfrm>
            <a:off x="827761" y="4940002"/>
            <a:ext cx="184245" cy="230287"/>
          </a:xfrm>
          <a:prstGeom prst="rect">
            <a:avLst/>
          </a:prstGeom>
          <a:noFill/>
          <a:ln/>
        </p:spPr>
        <p:txBody>
          <a:bodyPr wrap="none" lIns="0" tIns="0" rIns="0" bIns="0" rtlCol="0" anchor="ctr"/>
          <a:lstStyle/>
          <a:p>
            <a:pPr marL="0" indent="0" algn="ctr">
              <a:lnSpc>
                <a:spcPct val="100000"/>
              </a:lnSpc>
              <a:buNone/>
            </a:pPr>
            <a:r>
              <a:rPr lang="en-US" sz="1450">
                <a:solidFill>
                  <a:srgbClr val="161613"/>
                </a:solidFill>
                <a:latin typeface="DM Sans Medium" pitchFamily="34" charset="0"/>
                <a:ea typeface="DM Sans Medium" pitchFamily="34" charset="-122"/>
                <a:cs typeface="DM Sans Medium" pitchFamily="34" charset="-120"/>
              </a:rPr>
              <a:t>5</a:t>
            </a:r>
            <a:endParaRPr lang="en-US" sz="1450"/>
          </a:p>
        </p:txBody>
      </p:sp>
      <p:sp>
        <p:nvSpPr>
          <p:cNvPr id="23" name="Text 16"/>
          <p:cNvSpPr/>
          <p:nvPr/>
        </p:nvSpPr>
        <p:spPr>
          <a:xfrm>
            <a:off x="1245363" y="4822130"/>
            <a:ext cx="10149328" cy="191988"/>
          </a:xfrm>
          <a:prstGeom prst="rect">
            <a:avLst/>
          </a:prstGeom>
          <a:noFill/>
          <a:ln/>
        </p:spPr>
        <p:txBody>
          <a:bodyPr wrap="none" lIns="0" tIns="0" rIns="0" bIns="0" rtlCol="0" anchor="t"/>
          <a:lstStyle/>
          <a:p>
            <a:pPr marL="0" indent="0" algn="l">
              <a:lnSpc>
                <a:spcPct val="104000"/>
              </a:lnSpc>
              <a:buNone/>
            </a:pPr>
            <a:r>
              <a:rPr lang="en-US" sz="1200">
                <a:solidFill>
                  <a:srgbClr val="161613"/>
                </a:solidFill>
                <a:latin typeface="DM Sans Medium" pitchFamily="34" charset="0"/>
                <a:ea typeface="DM Sans Medium" pitchFamily="34" charset="-122"/>
                <a:cs typeface="DM Sans Medium" pitchFamily="34" charset="-120"/>
              </a:rPr>
              <a:t>Limited Optimisation</a:t>
            </a:r>
            <a:endParaRPr lang="en-US" sz="1200"/>
          </a:p>
        </p:txBody>
      </p:sp>
      <p:sp>
        <p:nvSpPr>
          <p:cNvPr id="24" name="Text 17"/>
          <p:cNvSpPr/>
          <p:nvPr/>
        </p:nvSpPr>
        <p:spPr>
          <a:xfrm>
            <a:off x="1245363" y="5061942"/>
            <a:ext cx="10149328" cy="162123"/>
          </a:xfrm>
          <a:prstGeom prst="rect">
            <a:avLst/>
          </a:prstGeom>
          <a:noFill/>
          <a:ln/>
        </p:spPr>
        <p:txBody>
          <a:bodyPr wrap="none" lIns="0" tIns="0" rIns="0" bIns="0" rtlCol="0" anchor="t"/>
          <a:lstStyle/>
          <a:p>
            <a:pPr marL="0" indent="0" algn="l">
              <a:lnSpc>
                <a:spcPct val="110000"/>
              </a:lnSpc>
              <a:buNone/>
            </a:pPr>
            <a:r>
              <a:rPr lang="en-US" sz="950">
                <a:solidFill>
                  <a:srgbClr val="161613"/>
                </a:solidFill>
                <a:latin typeface="Inter" pitchFamily="34" charset="0"/>
                <a:ea typeface="Inter" pitchFamily="34" charset="-122"/>
                <a:cs typeface="Inter" pitchFamily="34" charset="-120"/>
              </a:rPr>
              <a:t>Caching strategies are generic and not tailored to individual usage patterns.</a:t>
            </a:r>
            <a:endParaRPr lang="en-US" sz="950"/>
          </a:p>
        </p:txBody>
      </p:sp>
      <p:sp>
        <p:nvSpPr>
          <p:cNvPr id="25" name="Shape 18"/>
          <p:cNvSpPr/>
          <p:nvPr/>
        </p:nvSpPr>
        <p:spPr>
          <a:xfrm>
            <a:off x="661475" y="5513487"/>
            <a:ext cx="10868745" cy="647601"/>
          </a:xfrm>
          <a:prstGeom prst="roundRect">
            <a:avLst>
              <a:gd name="adj" fmla="val 2846"/>
            </a:avLst>
          </a:prstGeom>
          <a:solidFill>
            <a:srgbClr val="EDEBE3"/>
          </a:solidFill>
          <a:ln/>
        </p:spPr>
      </p:sp>
      <p:sp>
        <p:nvSpPr>
          <p:cNvPr id="26" name="Shape 19"/>
          <p:cNvSpPr/>
          <p:nvPr/>
        </p:nvSpPr>
        <p:spPr>
          <a:xfrm>
            <a:off x="661475" y="5513487"/>
            <a:ext cx="5434373" cy="647601"/>
          </a:xfrm>
          <a:custGeom>
            <a:avLst/>
            <a:gdLst/>
            <a:ahLst/>
            <a:cxnLst/>
            <a:rect l="l" t="t" r="r" b="b"/>
            <a:pathLst>
              <a:path w="5434373" h="647601">
                <a:moveTo>
                  <a:pt x="15358" y="0"/>
                </a:moveTo>
                <a:lnTo>
                  <a:pt x="5434373" y="0"/>
                </a:lnTo>
                <a:lnTo>
                  <a:pt x="5434373" y="647601"/>
                </a:lnTo>
                <a:lnTo>
                  <a:pt x="15358" y="647601"/>
                </a:lnTo>
                <a:arcTo wR="15358" hR="15358" stAng="5400000" swAng="5400000"/>
                <a:lnTo>
                  <a:pt x="0" y="15358"/>
                </a:lnTo>
                <a:arcTo wR="15358" hR="15358" stAng="10800000" swAng="5400000"/>
                <a:close/>
              </a:path>
            </a:pathLst>
          </a:custGeom>
          <a:solidFill>
            <a:srgbClr val="EDEBE3"/>
          </a:solidFill>
          <a:ln/>
        </p:spPr>
      </p:sp>
      <p:sp>
        <p:nvSpPr>
          <p:cNvPr id="27" name="Text 20"/>
          <p:cNvSpPr/>
          <p:nvPr/>
        </p:nvSpPr>
        <p:spPr>
          <a:xfrm>
            <a:off x="784305" y="5636320"/>
            <a:ext cx="5188713" cy="191988"/>
          </a:xfrm>
          <a:prstGeom prst="rect">
            <a:avLst/>
          </a:prstGeom>
          <a:noFill/>
          <a:ln/>
        </p:spPr>
        <p:txBody>
          <a:bodyPr wrap="none" lIns="0" tIns="0" rIns="0" bIns="0" rtlCol="0" anchor="t"/>
          <a:lstStyle/>
          <a:p>
            <a:pPr marL="0" indent="0" algn="l">
              <a:lnSpc>
                <a:spcPct val="104000"/>
              </a:lnSpc>
              <a:buNone/>
            </a:pPr>
            <a:r>
              <a:rPr lang="en-US" sz="1200">
                <a:solidFill>
                  <a:srgbClr val="161613"/>
                </a:solidFill>
                <a:latin typeface="DM Sans Medium" pitchFamily="34" charset="0"/>
                <a:ea typeface="DM Sans Medium" pitchFamily="34" charset="-122"/>
                <a:cs typeface="DM Sans Medium" pitchFamily="34" charset="-120"/>
              </a:rPr>
              <a:t>Traditional Approach</a:t>
            </a:r>
            <a:endParaRPr lang="en-US" sz="1200"/>
          </a:p>
        </p:txBody>
      </p:sp>
      <p:sp>
        <p:nvSpPr>
          <p:cNvPr id="28" name="Text 21"/>
          <p:cNvSpPr/>
          <p:nvPr/>
        </p:nvSpPr>
        <p:spPr>
          <a:xfrm>
            <a:off x="784305" y="5876131"/>
            <a:ext cx="5188713" cy="162123"/>
          </a:xfrm>
          <a:prstGeom prst="rect">
            <a:avLst/>
          </a:prstGeom>
          <a:noFill/>
          <a:ln/>
        </p:spPr>
        <p:txBody>
          <a:bodyPr wrap="none" lIns="0" tIns="0" rIns="0" bIns="0" rtlCol="0" anchor="t"/>
          <a:lstStyle/>
          <a:p>
            <a:pPr marL="0" indent="0" algn="l">
              <a:lnSpc>
                <a:spcPct val="110000"/>
              </a:lnSpc>
              <a:buNone/>
            </a:pPr>
            <a:r>
              <a:rPr lang="en-US" sz="950">
                <a:solidFill>
                  <a:srgbClr val="161613"/>
                </a:solidFill>
                <a:latin typeface="Inter" pitchFamily="34" charset="0"/>
                <a:ea typeface="Inter" pitchFamily="34" charset="-122"/>
                <a:cs typeface="Inter" pitchFamily="34" charset="-120"/>
              </a:rPr>
              <a:t>Request → Search → Access</a:t>
            </a:r>
            <a:endParaRPr lang="en-US" sz="950"/>
          </a:p>
        </p:txBody>
      </p:sp>
      <p:sp>
        <p:nvSpPr>
          <p:cNvPr id="29" name="Shape 22"/>
          <p:cNvSpPr/>
          <p:nvPr/>
        </p:nvSpPr>
        <p:spPr>
          <a:xfrm>
            <a:off x="6095848" y="5513487"/>
            <a:ext cx="5434373" cy="647601"/>
          </a:xfrm>
          <a:custGeom>
            <a:avLst/>
            <a:gdLst/>
            <a:ahLst/>
            <a:cxnLst/>
            <a:rect l="l" t="t" r="r" b="b"/>
            <a:pathLst>
              <a:path w="5434373" h="647601">
                <a:moveTo>
                  <a:pt x="0" y="0"/>
                </a:moveTo>
                <a:lnTo>
                  <a:pt x="5419015" y="0"/>
                </a:lnTo>
                <a:arcTo wR="15358" hR="15358" stAng="16200000" swAng="5400000"/>
                <a:lnTo>
                  <a:pt x="5434373" y="632243"/>
                </a:lnTo>
                <a:arcTo wR="15358" hR="15358" stAng="0" swAng="5400000"/>
                <a:lnTo>
                  <a:pt x="0" y="647601"/>
                </a:lnTo>
                <a:lnTo>
                  <a:pt x="0" y="0"/>
                </a:lnTo>
                <a:close/>
              </a:path>
            </a:pathLst>
          </a:custGeom>
          <a:solidFill>
            <a:srgbClr val="EDEBE3"/>
          </a:solidFill>
          <a:ln/>
        </p:spPr>
      </p:sp>
      <p:sp>
        <p:nvSpPr>
          <p:cNvPr id="30" name="Shape 23"/>
          <p:cNvSpPr/>
          <p:nvPr/>
        </p:nvSpPr>
        <p:spPr>
          <a:xfrm>
            <a:off x="6095848" y="5513487"/>
            <a:ext cx="12700" cy="647601"/>
          </a:xfrm>
          <a:prstGeom prst="roundRect">
            <a:avLst>
              <a:gd name="adj" fmla="val 49999"/>
            </a:avLst>
          </a:prstGeom>
          <a:solidFill>
            <a:srgbClr val="D3D1C9"/>
          </a:solidFill>
          <a:ln/>
        </p:spPr>
      </p:sp>
      <p:sp>
        <p:nvSpPr>
          <p:cNvPr id="31" name="Text 24"/>
          <p:cNvSpPr/>
          <p:nvPr/>
        </p:nvSpPr>
        <p:spPr>
          <a:xfrm>
            <a:off x="6218677" y="5636320"/>
            <a:ext cx="5188713" cy="191988"/>
          </a:xfrm>
          <a:prstGeom prst="rect">
            <a:avLst/>
          </a:prstGeom>
          <a:noFill/>
          <a:ln/>
        </p:spPr>
        <p:txBody>
          <a:bodyPr wrap="none" lIns="0" tIns="0" rIns="0" bIns="0" rtlCol="0" anchor="t"/>
          <a:lstStyle/>
          <a:p>
            <a:pPr marL="0" indent="0" algn="l">
              <a:lnSpc>
                <a:spcPct val="104000"/>
              </a:lnSpc>
              <a:buNone/>
            </a:pPr>
            <a:r>
              <a:rPr lang="en-US" sz="1200">
                <a:solidFill>
                  <a:srgbClr val="161613"/>
                </a:solidFill>
                <a:latin typeface="DM Sans Medium" pitchFamily="34" charset="0"/>
                <a:ea typeface="DM Sans Medium" pitchFamily="34" charset="-122"/>
                <a:cs typeface="DM Sans Medium" pitchFamily="34" charset="-120"/>
              </a:rPr>
              <a:t>FileMind Approach</a:t>
            </a:r>
            <a:endParaRPr lang="en-US" sz="1200"/>
          </a:p>
        </p:txBody>
      </p:sp>
      <p:sp>
        <p:nvSpPr>
          <p:cNvPr id="32" name="Text 25"/>
          <p:cNvSpPr/>
          <p:nvPr/>
        </p:nvSpPr>
        <p:spPr>
          <a:xfrm>
            <a:off x="6218677" y="5876131"/>
            <a:ext cx="5188713" cy="162123"/>
          </a:xfrm>
          <a:prstGeom prst="rect">
            <a:avLst/>
          </a:prstGeom>
          <a:noFill/>
          <a:ln/>
        </p:spPr>
        <p:txBody>
          <a:bodyPr wrap="none" lIns="0" tIns="0" rIns="0" bIns="0" rtlCol="0" anchor="t"/>
          <a:lstStyle/>
          <a:p>
            <a:pPr marL="0" indent="0" algn="l">
              <a:lnSpc>
                <a:spcPct val="110000"/>
              </a:lnSpc>
              <a:buNone/>
            </a:pPr>
            <a:r>
              <a:rPr lang="en-US" sz="950">
                <a:solidFill>
                  <a:srgbClr val="161613"/>
                </a:solidFill>
                <a:latin typeface="Inter" pitchFamily="34" charset="0"/>
                <a:ea typeface="Inter" pitchFamily="34" charset="-122"/>
                <a:cs typeface="Inter" pitchFamily="34" charset="-120"/>
              </a:rPr>
              <a:t>Observe → Predict → Prepare → Access</a:t>
            </a:r>
            <a:endParaRPr lang="en-US" sz="9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536575"/>
            <a:ext cx="1469691" cy="226219"/>
          </a:xfrm>
          <a:prstGeom prst="roundRect">
            <a:avLst>
              <a:gd name="adj" fmla="val 7896"/>
            </a:avLst>
          </a:prstGeom>
          <a:noFill/>
          <a:ln w="6350">
            <a:solidFill>
              <a:srgbClr val="28282F"/>
            </a:solidFill>
            <a:prstDash val="solid"/>
          </a:ln>
        </p:spPr>
      </p:sp>
      <p:sp>
        <p:nvSpPr>
          <p:cNvPr id="3" name="Text 1"/>
          <p:cNvSpPr/>
          <p:nvPr/>
        </p:nvSpPr>
        <p:spPr>
          <a:xfrm>
            <a:off x="750769" y="581223"/>
            <a:ext cx="1900686" cy="136922"/>
          </a:xfrm>
          <a:prstGeom prst="rect">
            <a:avLst/>
          </a:prstGeom>
          <a:noFill/>
          <a:ln/>
        </p:spPr>
        <p:txBody>
          <a:bodyPr wrap="none" lIns="0" tIns="0" rIns="0" bIns="0" rtlCol="0" anchor="t"/>
          <a:lstStyle/>
          <a:p>
            <a:pPr marL="0" indent="0" algn="l">
              <a:lnSpc>
                <a:spcPct val="96000"/>
              </a:lnSpc>
              <a:buNone/>
            </a:pPr>
            <a:r>
              <a:rPr lang="en-US" sz="900">
                <a:solidFill>
                  <a:srgbClr val="28282F"/>
                </a:solidFill>
                <a:latin typeface="Inter" pitchFamily="34" charset="0"/>
                <a:ea typeface="Inter" pitchFamily="34" charset="-122"/>
                <a:cs typeface="Inter" pitchFamily="34" charset="-120"/>
              </a:rPr>
              <a:t>PROPOSED SOLUTION</a:t>
            </a:r>
            <a:endParaRPr lang="en-US" sz="900"/>
          </a:p>
        </p:txBody>
      </p:sp>
      <p:sp>
        <p:nvSpPr>
          <p:cNvPr id="4" name="Text 2"/>
          <p:cNvSpPr/>
          <p:nvPr/>
        </p:nvSpPr>
        <p:spPr>
          <a:xfrm>
            <a:off x="661475" y="809625"/>
            <a:ext cx="10868745" cy="465138"/>
          </a:xfrm>
          <a:prstGeom prst="rect">
            <a:avLst/>
          </a:prstGeom>
          <a:noFill/>
          <a:ln/>
        </p:spPr>
        <p:txBody>
          <a:bodyPr wrap="none" lIns="0" tIns="0" rIns="0" bIns="0" rtlCol="0" anchor="t"/>
          <a:lstStyle/>
          <a:p>
            <a:pPr marL="0" indent="0" algn="l">
              <a:lnSpc>
                <a:spcPct val="104000"/>
              </a:lnSpc>
              <a:buNone/>
            </a:pPr>
            <a:r>
              <a:rPr lang="en-US" sz="2900">
                <a:solidFill>
                  <a:srgbClr val="161613"/>
                </a:solidFill>
                <a:latin typeface="DM Sans Medium" pitchFamily="34" charset="0"/>
                <a:ea typeface="DM Sans Medium" pitchFamily="34" charset="-122"/>
                <a:cs typeface="DM Sans Medium" pitchFamily="34" charset="-120"/>
              </a:rPr>
              <a:t>Proposed System</a:t>
            </a:r>
            <a:endParaRPr lang="en-US" sz="2900"/>
          </a:p>
        </p:txBody>
      </p:sp>
      <p:sp>
        <p:nvSpPr>
          <p:cNvPr id="5" name="Text 3"/>
          <p:cNvSpPr/>
          <p:nvPr/>
        </p:nvSpPr>
        <p:spPr>
          <a:xfrm>
            <a:off x="661475" y="1450578"/>
            <a:ext cx="10868745" cy="425648"/>
          </a:xfrm>
          <a:prstGeom prst="rect">
            <a:avLst/>
          </a:prstGeom>
          <a:noFill/>
          <a:ln/>
        </p:spPr>
        <p:txBody>
          <a:bodyPr wrap="square" lIns="0" tIns="0" rIns="0" bIns="0" rtlCol="0" anchor="t">
            <a:normAutofit/>
          </a:bodyPr>
          <a:lstStyle/>
          <a:p>
            <a:pPr marL="0" indent="0" algn="l">
              <a:lnSpc>
                <a:spcPct val="119000"/>
              </a:lnSpc>
              <a:buNone/>
            </a:pPr>
            <a:r>
              <a:rPr lang="en-US" sz="1150">
                <a:solidFill>
                  <a:srgbClr val="161613"/>
                </a:solidFill>
                <a:latin typeface="Inter" pitchFamily="34" charset="0"/>
                <a:ea typeface="Inter" pitchFamily="34" charset="-122"/>
                <a:cs typeface="Inter" pitchFamily="34" charset="-120"/>
              </a:rPr>
              <a:t>FileMind continuously monitors file-access activity, builds a historical access log, and applies machine learning to predict the next file a user is likely to access. The predicted file is prefetched into memory before the request is made, significantly reducing access latency.</a:t>
            </a:r>
            <a:endParaRPr lang="en-US" sz="1150"/>
          </a:p>
        </p:txBody>
      </p:sp>
      <p:pic>
        <p:nvPicPr>
          <p:cNvPr id="6" name="Image 0" descr="preencoded.png"/>
          <p:cNvPicPr>
            <a:picLocks noChangeAspect="1"/>
          </p:cNvPicPr>
          <p:nvPr/>
        </p:nvPicPr>
        <p:blipFill>
          <a:blip r:embed="rId3"/>
          <a:stretch>
            <a:fillRect/>
          </a:stretch>
        </p:blipFill>
        <p:spPr>
          <a:xfrm>
            <a:off x="1748389" y="2008088"/>
            <a:ext cx="8694917" cy="3755827"/>
          </a:xfrm>
          <a:prstGeom prst="rect">
            <a:avLst/>
          </a:prstGeom>
        </p:spPr>
      </p:pic>
      <p:sp>
        <p:nvSpPr>
          <p:cNvPr id="7" name="Text 4"/>
          <p:cNvSpPr/>
          <p:nvPr/>
        </p:nvSpPr>
        <p:spPr>
          <a:xfrm>
            <a:off x="3823212" y="4550168"/>
            <a:ext cx="1291044" cy="470290"/>
          </a:xfrm>
          <a:prstGeom prst="rect">
            <a:avLst/>
          </a:prstGeom>
          <a:noFill/>
          <a:ln/>
        </p:spPr>
        <p:txBody>
          <a:bodyPr wrap="square" lIns="0" tIns="0" rIns="0" bIns="0" rtlCol="0" anchor="t">
            <a:normAutofit/>
          </a:bodyPr>
          <a:lstStyle/>
          <a:p>
            <a:pPr marL="0" indent="0" algn="ctr">
              <a:lnSpc>
                <a:spcPct val="104000"/>
              </a:lnSpc>
              <a:buNone/>
            </a:pPr>
            <a:r>
              <a:rPr lang="en-US" sz="1450">
                <a:solidFill>
                  <a:srgbClr val="161613"/>
                </a:solidFill>
                <a:latin typeface="DM Sans Medium" pitchFamily="34" charset="0"/>
                <a:ea typeface="DM Sans Medium" pitchFamily="34" charset="-122"/>
                <a:cs typeface="DM Sans Medium" pitchFamily="34" charset="-120"/>
              </a:rPr>
              <a:t>Access History</a:t>
            </a:r>
            <a:endParaRPr lang="en-US" sz="1450"/>
          </a:p>
        </p:txBody>
      </p:sp>
      <p:sp>
        <p:nvSpPr>
          <p:cNvPr id="8" name="Text 5"/>
          <p:cNvSpPr/>
          <p:nvPr/>
        </p:nvSpPr>
        <p:spPr>
          <a:xfrm>
            <a:off x="3823212" y="5087343"/>
            <a:ext cx="1291044" cy="336257"/>
          </a:xfrm>
          <a:prstGeom prst="rect">
            <a:avLst/>
          </a:prstGeom>
          <a:noFill/>
          <a:ln/>
        </p:spPr>
        <p:txBody>
          <a:bodyPr wrap="square" lIns="0" tIns="0" rIns="0" bIns="0" rtlCol="0" anchor="t">
            <a:normAutofit/>
          </a:bodyPr>
          <a:lstStyle/>
          <a:p>
            <a:pPr marL="0" indent="0" algn="ctr">
              <a:lnSpc>
                <a:spcPct val="93000"/>
              </a:lnSpc>
              <a:buNone/>
            </a:pPr>
            <a:r>
              <a:rPr lang="en-US" sz="1150">
                <a:solidFill>
                  <a:srgbClr val="161613"/>
                </a:solidFill>
                <a:latin typeface="Inter" pitchFamily="34" charset="0"/>
                <a:ea typeface="Inter" pitchFamily="34" charset="-122"/>
                <a:cs typeface="Inter" pitchFamily="34" charset="-120"/>
              </a:rPr>
              <a:t>Build a temporal access log</a:t>
            </a:r>
            <a:endParaRPr lang="en-US" sz="1150"/>
          </a:p>
        </p:txBody>
      </p:sp>
      <p:sp>
        <p:nvSpPr>
          <p:cNvPr id="9" name="Text 6"/>
          <p:cNvSpPr/>
          <p:nvPr/>
        </p:nvSpPr>
        <p:spPr>
          <a:xfrm>
            <a:off x="7138280" y="4550168"/>
            <a:ext cx="1291045" cy="470290"/>
          </a:xfrm>
          <a:prstGeom prst="rect">
            <a:avLst/>
          </a:prstGeom>
          <a:noFill/>
          <a:ln/>
        </p:spPr>
        <p:txBody>
          <a:bodyPr wrap="square" lIns="0" tIns="0" rIns="0" bIns="0" rtlCol="0" anchor="t">
            <a:normAutofit/>
          </a:bodyPr>
          <a:lstStyle/>
          <a:p>
            <a:pPr marL="0" indent="0" algn="ctr">
              <a:lnSpc>
                <a:spcPct val="104000"/>
              </a:lnSpc>
              <a:buNone/>
            </a:pPr>
            <a:r>
              <a:rPr lang="en-US" sz="1450">
                <a:solidFill>
                  <a:srgbClr val="161613"/>
                </a:solidFill>
                <a:latin typeface="DM Sans Medium" pitchFamily="34" charset="0"/>
                <a:ea typeface="DM Sans Medium" pitchFamily="34" charset="-122"/>
                <a:cs typeface="DM Sans Medium" pitchFamily="34" charset="-120"/>
              </a:rPr>
              <a:t>ML Prediction Model</a:t>
            </a:r>
            <a:endParaRPr lang="en-US" sz="1450"/>
          </a:p>
        </p:txBody>
      </p:sp>
      <p:sp>
        <p:nvSpPr>
          <p:cNvPr id="10" name="Text 7"/>
          <p:cNvSpPr/>
          <p:nvPr/>
        </p:nvSpPr>
        <p:spPr>
          <a:xfrm>
            <a:off x="7138280" y="5087343"/>
            <a:ext cx="1291045" cy="336257"/>
          </a:xfrm>
          <a:prstGeom prst="rect">
            <a:avLst/>
          </a:prstGeom>
          <a:noFill/>
          <a:ln/>
        </p:spPr>
        <p:txBody>
          <a:bodyPr wrap="square" lIns="0" tIns="0" rIns="0" bIns="0" rtlCol="0" anchor="t">
            <a:normAutofit/>
          </a:bodyPr>
          <a:lstStyle/>
          <a:p>
            <a:pPr marL="0" indent="0" algn="ctr">
              <a:lnSpc>
                <a:spcPct val="93000"/>
              </a:lnSpc>
              <a:buNone/>
            </a:pPr>
            <a:r>
              <a:rPr lang="en-US" sz="1150">
                <a:solidFill>
                  <a:srgbClr val="161613"/>
                </a:solidFill>
                <a:latin typeface="Inter" pitchFamily="34" charset="0"/>
                <a:ea typeface="Inter" pitchFamily="34" charset="-122"/>
                <a:cs typeface="Inter" pitchFamily="34" charset="-120"/>
              </a:rPr>
              <a:t>Predict next file access</a:t>
            </a:r>
            <a:endParaRPr lang="en-US" sz="1150"/>
          </a:p>
        </p:txBody>
      </p:sp>
      <p:sp>
        <p:nvSpPr>
          <p:cNvPr id="11" name="Text 8"/>
          <p:cNvSpPr/>
          <p:nvPr/>
        </p:nvSpPr>
        <p:spPr>
          <a:xfrm>
            <a:off x="2169793" y="2346990"/>
            <a:ext cx="1291044" cy="470290"/>
          </a:xfrm>
          <a:prstGeom prst="rect">
            <a:avLst/>
          </a:prstGeom>
          <a:noFill/>
          <a:ln/>
        </p:spPr>
        <p:txBody>
          <a:bodyPr wrap="square" lIns="0" tIns="0" rIns="0" bIns="0" rtlCol="0" anchor="t">
            <a:normAutofit/>
          </a:bodyPr>
          <a:lstStyle/>
          <a:p>
            <a:pPr marL="0" indent="0" algn="ctr">
              <a:lnSpc>
                <a:spcPct val="104000"/>
              </a:lnSpc>
              <a:buNone/>
            </a:pPr>
            <a:r>
              <a:rPr lang="en-US" sz="1450">
                <a:solidFill>
                  <a:srgbClr val="161613"/>
                </a:solidFill>
                <a:latin typeface="DM Sans Medium" pitchFamily="34" charset="0"/>
                <a:ea typeface="DM Sans Medium" pitchFamily="34" charset="-122"/>
                <a:cs typeface="DM Sans Medium" pitchFamily="34" charset="-120"/>
              </a:rPr>
              <a:t>Access Monitor</a:t>
            </a:r>
            <a:endParaRPr lang="en-US" sz="1450"/>
          </a:p>
        </p:txBody>
      </p:sp>
      <p:sp>
        <p:nvSpPr>
          <p:cNvPr id="12" name="Text 9"/>
          <p:cNvSpPr/>
          <p:nvPr/>
        </p:nvSpPr>
        <p:spPr>
          <a:xfrm>
            <a:off x="2169793" y="2884166"/>
            <a:ext cx="1291044" cy="336257"/>
          </a:xfrm>
          <a:prstGeom prst="rect">
            <a:avLst/>
          </a:prstGeom>
          <a:noFill/>
          <a:ln/>
        </p:spPr>
        <p:txBody>
          <a:bodyPr wrap="square" lIns="0" tIns="0" rIns="0" bIns="0" rtlCol="0" anchor="t">
            <a:normAutofit/>
          </a:bodyPr>
          <a:lstStyle/>
          <a:p>
            <a:pPr marL="0" indent="0" algn="ctr">
              <a:lnSpc>
                <a:spcPct val="93000"/>
              </a:lnSpc>
              <a:buNone/>
            </a:pPr>
            <a:r>
              <a:rPr lang="en-US" sz="1150">
                <a:solidFill>
                  <a:srgbClr val="161613"/>
                </a:solidFill>
                <a:latin typeface="Inter" pitchFamily="34" charset="0"/>
                <a:ea typeface="Inter" pitchFamily="34" charset="-122"/>
                <a:cs typeface="Inter" pitchFamily="34" charset="-120"/>
              </a:rPr>
              <a:t>Continuously track file access</a:t>
            </a:r>
            <a:endParaRPr lang="en-US" sz="1150"/>
          </a:p>
        </p:txBody>
      </p:sp>
      <p:sp>
        <p:nvSpPr>
          <p:cNvPr id="13" name="Text 10"/>
          <p:cNvSpPr/>
          <p:nvPr/>
        </p:nvSpPr>
        <p:spPr>
          <a:xfrm>
            <a:off x="8742452" y="2346990"/>
            <a:ext cx="1291044" cy="470290"/>
          </a:xfrm>
          <a:prstGeom prst="rect">
            <a:avLst/>
          </a:prstGeom>
          <a:noFill/>
          <a:ln/>
        </p:spPr>
        <p:txBody>
          <a:bodyPr wrap="square" lIns="0" tIns="0" rIns="0" bIns="0" rtlCol="0" anchor="t">
            <a:normAutofit/>
          </a:bodyPr>
          <a:lstStyle/>
          <a:p>
            <a:pPr marL="0" indent="0" algn="ctr">
              <a:lnSpc>
                <a:spcPct val="104000"/>
              </a:lnSpc>
              <a:buNone/>
            </a:pPr>
            <a:r>
              <a:rPr lang="en-US" sz="1450">
                <a:solidFill>
                  <a:srgbClr val="161613"/>
                </a:solidFill>
                <a:latin typeface="DM Sans Medium" pitchFamily="34" charset="0"/>
                <a:ea typeface="DM Sans Medium" pitchFamily="34" charset="-122"/>
                <a:cs typeface="DM Sans Medium" pitchFamily="34" charset="-120"/>
              </a:rPr>
              <a:t>Intelligent Prefetching</a:t>
            </a:r>
            <a:endParaRPr lang="en-US" sz="1450"/>
          </a:p>
        </p:txBody>
      </p:sp>
      <p:sp>
        <p:nvSpPr>
          <p:cNvPr id="14" name="Text 11"/>
          <p:cNvSpPr/>
          <p:nvPr/>
        </p:nvSpPr>
        <p:spPr>
          <a:xfrm>
            <a:off x="8742452" y="2884166"/>
            <a:ext cx="1291044" cy="336257"/>
          </a:xfrm>
          <a:prstGeom prst="rect">
            <a:avLst/>
          </a:prstGeom>
          <a:noFill/>
          <a:ln/>
        </p:spPr>
        <p:txBody>
          <a:bodyPr wrap="square" lIns="0" tIns="0" rIns="0" bIns="0" rtlCol="0" anchor="t">
            <a:normAutofit/>
          </a:bodyPr>
          <a:lstStyle/>
          <a:p>
            <a:pPr marL="0" indent="0" algn="ctr">
              <a:lnSpc>
                <a:spcPct val="93000"/>
              </a:lnSpc>
              <a:buNone/>
            </a:pPr>
            <a:r>
              <a:rPr lang="en-US" sz="1150">
                <a:solidFill>
                  <a:srgbClr val="161613"/>
                </a:solidFill>
                <a:latin typeface="Inter" pitchFamily="34" charset="0"/>
                <a:ea typeface="Inter" pitchFamily="34" charset="-122"/>
                <a:cs typeface="Inter" pitchFamily="34" charset="-120"/>
              </a:rPr>
              <a:t>Prefetch predicted file</a:t>
            </a:r>
            <a:endParaRPr lang="en-US" sz="1150"/>
          </a:p>
        </p:txBody>
      </p:sp>
      <p:sp>
        <p:nvSpPr>
          <p:cNvPr id="15" name="Text 12"/>
          <p:cNvSpPr/>
          <p:nvPr/>
        </p:nvSpPr>
        <p:spPr>
          <a:xfrm>
            <a:off x="5501321" y="2346990"/>
            <a:ext cx="1291044" cy="470290"/>
          </a:xfrm>
          <a:prstGeom prst="rect">
            <a:avLst/>
          </a:prstGeom>
          <a:noFill/>
          <a:ln/>
        </p:spPr>
        <p:txBody>
          <a:bodyPr wrap="square" lIns="0" tIns="0" rIns="0" bIns="0" rtlCol="0" anchor="t">
            <a:normAutofit/>
          </a:bodyPr>
          <a:lstStyle/>
          <a:p>
            <a:pPr marL="0" indent="0" algn="ctr">
              <a:lnSpc>
                <a:spcPct val="104000"/>
              </a:lnSpc>
              <a:buNone/>
            </a:pPr>
            <a:r>
              <a:rPr lang="en-US" sz="1450">
                <a:solidFill>
                  <a:srgbClr val="161613"/>
                </a:solidFill>
                <a:latin typeface="DM Sans Medium" pitchFamily="34" charset="0"/>
                <a:ea typeface="DM Sans Medium" pitchFamily="34" charset="-122"/>
                <a:cs typeface="DM Sans Medium" pitchFamily="34" charset="-120"/>
              </a:rPr>
              <a:t>Pattern Analysis</a:t>
            </a:r>
            <a:endParaRPr lang="en-US" sz="1450"/>
          </a:p>
        </p:txBody>
      </p:sp>
      <p:sp>
        <p:nvSpPr>
          <p:cNvPr id="16" name="Text 13"/>
          <p:cNvSpPr/>
          <p:nvPr/>
        </p:nvSpPr>
        <p:spPr>
          <a:xfrm>
            <a:off x="5501321" y="2884166"/>
            <a:ext cx="1291044" cy="336257"/>
          </a:xfrm>
          <a:prstGeom prst="rect">
            <a:avLst/>
          </a:prstGeom>
          <a:noFill/>
          <a:ln/>
        </p:spPr>
        <p:txBody>
          <a:bodyPr wrap="square" lIns="0" tIns="0" rIns="0" bIns="0" rtlCol="0" anchor="t">
            <a:normAutofit/>
          </a:bodyPr>
          <a:lstStyle/>
          <a:p>
            <a:pPr marL="0" indent="0" algn="ctr">
              <a:lnSpc>
                <a:spcPct val="93000"/>
              </a:lnSpc>
              <a:buNone/>
            </a:pPr>
            <a:r>
              <a:rPr lang="en-US" sz="1150">
                <a:solidFill>
                  <a:srgbClr val="161613"/>
                </a:solidFill>
                <a:latin typeface="Inter" pitchFamily="34" charset="0"/>
                <a:ea typeface="Inter" pitchFamily="34" charset="-122"/>
                <a:cs typeface="Inter" pitchFamily="34" charset="-120"/>
              </a:rPr>
              <a:t>Discover usage patterns</a:t>
            </a:r>
            <a:endParaRPr lang="en-US" sz="1150"/>
          </a:p>
        </p:txBody>
      </p:sp>
      <p:sp>
        <p:nvSpPr>
          <p:cNvPr id="17" name="Text 14"/>
          <p:cNvSpPr/>
          <p:nvPr/>
        </p:nvSpPr>
        <p:spPr>
          <a:xfrm>
            <a:off x="661475" y="5895777"/>
            <a:ext cx="10868745" cy="425648"/>
          </a:xfrm>
          <a:prstGeom prst="rect">
            <a:avLst/>
          </a:prstGeom>
          <a:noFill/>
          <a:ln/>
        </p:spPr>
        <p:txBody>
          <a:bodyPr wrap="square" lIns="0" tIns="0" rIns="0" bIns="0" rtlCol="0" anchor="t">
            <a:normAutofit/>
          </a:bodyPr>
          <a:lstStyle/>
          <a:p>
            <a:pPr marL="0" indent="0" algn="l">
              <a:lnSpc>
                <a:spcPct val="119000"/>
              </a:lnSpc>
              <a:buNone/>
            </a:pPr>
            <a:r>
              <a:rPr lang="en-US" sz="1150">
                <a:solidFill>
                  <a:srgbClr val="161613"/>
                </a:solidFill>
                <a:latin typeface="Inter" pitchFamily="34" charset="0"/>
                <a:ea typeface="Inter" pitchFamily="34" charset="-122"/>
                <a:cs typeface="Inter" pitchFamily="34" charset="-120"/>
              </a:rPr>
              <a:t>This end-to-end pipeline transforms reactive file access into a proactive, intelligent process — each stage feeding seamlessly into the next to enable real-time prediction and prefetching.</a:t>
            </a:r>
            <a:endParaRPr lang="en-US" sz="11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28141"/>
            <a:ext cx="817740" cy="169069"/>
          </a:xfrm>
          <a:prstGeom prst="roundRect">
            <a:avLst>
              <a:gd name="adj" fmla="val 7903"/>
            </a:avLst>
          </a:prstGeom>
          <a:noFill/>
          <a:ln w="6350">
            <a:solidFill>
              <a:srgbClr val="28282F"/>
            </a:solidFill>
            <a:prstDash val="solid"/>
          </a:ln>
        </p:spPr>
      </p:sp>
      <p:sp>
        <p:nvSpPr>
          <p:cNvPr id="3" name="Text 1"/>
          <p:cNvSpPr/>
          <p:nvPr/>
        </p:nvSpPr>
        <p:spPr>
          <a:xfrm>
            <a:off x="728247" y="561479"/>
            <a:ext cx="1293780" cy="102394"/>
          </a:xfrm>
          <a:prstGeom prst="rect">
            <a:avLst/>
          </a:prstGeom>
          <a:noFill/>
          <a:ln/>
        </p:spPr>
        <p:txBody>
          <a:bodyPr wrap="none" lIns="0" tIns="0" rIns="0" bIns="0" rtlCol="0" anchor="t"/>
          <a:lstStyle/>
          <a:p>
            <a:pPr marL="0" indent="0" algn="l">
              <a:lnSpc>
                <a:spcPct val="96000"/>
              </a:lnSpc>
              <a:buNone/>
            </a:pPr>
            <a:r>
              <a:rPr lang="en-US" sz="700">
                <a:solidFill>
                  <a:srgbClr val="28282F"/>
                </a:solidFill>
                <a:latin typeface="Inter" pitchFamily="34" charset="0"/>
                <a:ea typeface="Inter" pitchFamily="34" charset="-122"/>
                <a:cs typeface="Inter" pitchFamily="34" charset="-120"/>
              </a:rPr>
              <a:t>ARCHITECTURE</a:t>
            </a:r>
            <a:endParaRPr lang="en-US" sz="700"/>
          </a:p>
        </p:txBody>
      </p:sp>
      <p:sp>
        <p:nvSpPr>
          <p:cNvPr id="4" name="Text 2"/>
          <p:cNvSpPr/>
          <p:nvPr/>
        </p:nvSpPr>
        <p:spPr>
          <a:xfrm>
            <a:off x="661475" y="723404"/>
            <a:ext cx="10868745" cy="347960"/>
          </a:xfrm>
          <a:prstGeom prst="rect">
            <a:avLst/>
          </a:prstGeom>
          <a:noFill/>
          <a:ln/>
        </p:spPr>
        <p:txBody>
          <a:bodyPr wrap="none" lIns="0" tIns="0" rIns="0" bIns="0" rtlCol="0" anchor="t"/>
          <a:lstStyle/>
          <a:p>
            <a:pPr marL="0" indent="0" algn="l">
              <a:lnSpc>
                <a:spcPct val="104000"/>
              </a:lnSpc>
              <a:buNone/>
            </a:pPr>
            <a:r>
              <a:rPr lang="en-US" sz="2150">
                <a:solidFill>
                  <a:srgbClr val="161613"/>
                </a:solidFill>
                <a:latin typeface="DM Sans Medium" pitchFamily="34" charset="0"/>
                <a:ea typeface="DM Sans Medium" pitchFamily="34" charset="-122"/>
                <a:cs typeface="DM Sans Medium" pitchFamily="34" charset="-120"/>
              </a:rPr>
              <a:t>System Workflow</a:t>
            </a:r>
            <a:endParaRPr lang="en-US" sz="2150"/>
          </a:p>
        </p:txBody>
      </p:sp>
      <p:sp>
        <p:nvSpPr>
          <p:cNvPr id="5" name="Text 3"/>
          <p:cNvSpPr/>
          <p:nvPr/>
        </p:nvSpPr>
        <p:spPr>
          <a:xfrm>
            <a:off x="661475" y="1169690"/>
            <a:ext cx="11478330" cy="141486"/>
          </a:xfrm>
          <a:prstGeom prst="rect">
            <a:avLst/>
          </a:prstGeom>
          <a:noFill/>
          <a:ln/>
        </p:spPr>
        <p:txBody>
          <a:bodyPr wrap="none" lIns="0" tIns="0" rIns="0" bIns="0" rtlCol="0" anchor="t"/>
          <a:lstStyle/>
          <a:p>
            <a:pPr marL="0" indent="0" algn="l">
              <a:lnSpc>
                <a:spcPct val="106000"/>
              </a:lnSpc>
              <a:buNone/>
            </a:pPr>
            <a:r>
              <a:rPr lang="en-US" sz="850">
                <a:solidFill>
                  <a:srgbClr val="161613"/>
                </a:solidFill>
                <a:latin typeface="Inter" pitchFamily="34" charset="0"/>
                <a:ea typeface="Inter" pitchFamily="34" charset="-122"/>
                <a:cs typeface="Inter" pitchFamily="34" charset="-120"/>
              </a:rPr>
              <a:t>FileMind integrates three core domains — Operating Systems, System Programming, and Machine Learning — into a unified intelligent file management pipeline.</a:t>
            </a:r>
            <a:endParaRPr lang="en-US" sz="850"/>
          </a:p>
        </p:txBody>
      </p:sp>
      <p:pic>
        <p:nvPicPr>
          <p:cNvPr id="6" name="Image 0" descr="preencoded.png"/>
          <p:cNvPicPr>
            <a:picLocks noChangeAspect="1"/>
          </p:cNvPicPr>
          <p:nvPr/>
        </p:nvPicPr>
        <p:blipFill>
          <a:blip r:embed="rId3"/>
          <a:stretch>
            <a:fillRect/>
          </a:stretch>
        </p:blipFill>
        <p:spPr>
          <a:xfrm>
            <a:off x="2828457" y="1384895"/>
            <a:ext cx="6534780" cy="2922290"/>
          </a:xfrm>
          <a:prstGeom prst="rect">
            <a:avLst/>
          </a:prstGeom>
        </p:spPr>
      </p:pic>
      <p:sp>
        <p:nvSpPr>
          <p:cNvPr id="7" name="Text 4"/>
          <p:cNvSpPr/>
          <p:nvPr/>
        </p:nvSpPr>
        <p:spPr>
          <a:xfrm>
            <a:off x="6620075" y="3474923"/>
            <a:ext cx="1589548" cy="198699"/>
          </a:xfrm>
          <a:prstGeom prst="rect">
            <a:avLst/>
          </a:prstGeom>
          <a:noFill/>
          <a:ln/>
        </p:spPr>
        <p:txBody>
          <a:bodyPr wrap="none" lIns="0" tIns="0" rIns="0" bIns="0" rtlCol="0" anchor="t"/>
          <a:lstStyle/>
          <a:p>
            <a:pPr marL="0" indent="0" algn="l">
              <a:lnSpc>
                <a:spcPct val="104000"/>
              </a:lnSpc>
              <a:buNone/>
            </a:pPr>
            <a:r>
              <a:rPr lang="en-US" sz="1250">
                <a:solidFill>
                  <a:srgbClr val="161613"/>
                </a:solidFill>
                <a:latin typeface="DM Sans Medium" pitchFamily="34" charset="0"/>
                <a:ea typeface="DM Sans Medium" pitchFamily="34" charset="-122"/>
                <a:cs typeface="DM Sans Medium" pitchFamily="34" charset="-120"/>
              </a:rPr>
              <a:t>Operating System</a:t>
            </a:r>
            <a:endParaRPr lang="en-US" sz="1250"/>
          </a:p>
        </p:txBody>
      </p:sp>
      <p:sp>
        <p:nvSpPr>
          <p:cNvPr id="8" name="Text 5"/>
          <p:cNvSpPr/>
          <p:nvPr/>
        </p:nvSpPr>
        <p:spPr>
          <a:xfrm>
            <a:off x="6620075" y="3730140"/>
            <a:ext cx="2585666" cy="126284"/>
          </a:xfrm>
          <a:prstGeom prst="rect">
            <a:avLst/>
          </a:prstGeom>
          <a:noFill/>
          <a:ln/>
        </p:spPr>
        <p:txBody>
          <a:bodyPr wrap="none" lIns="0" tIns="0" rIns="0" bIns="0" rtlCol="0" anchor="t"/>
          <a:lstStyle/>
          <a:p>
            <a:pPr marL="0" indent="0" algn="l">
              <a:lnSpc>
                <a:spcPct val="83000"/>
              </a:lnSpc>
              <a:buNone/>
            </a:pPr>
            <a:r>
              <a:rPr lang="en-US" sz="1000">
                <a:solidFill>
                  <a:srgbClr val="161613"/>
                </a:solidFill>
                <a:latin typeface="Inter" pitchFamily="34" charset="0"/>
                <a:ea typeface="Inter" pitchFamily="34" charset="-122"/>
                <a:cs typeface="Inter" pitchFamily="34" charset="-120"/>
              </a:rPr>
              <a:t>File system, access events, disk I/O</a:t>
            </a:r>
            <a:endParaRPr lang="en-US" sz="1000"/>
          </a:p>
        </p:txBody>
      </p:sp>
      <p:sp>
        <p:nvSpPr>
          <p:cNvPr id="9" name="Text 6"/>
          <p:cNvSpPr/>
          <p:nvPr/>
        </p:nvSpPr>
        <p:spPr>
          <a:xfrm>
            <a:off x="6613011" y="2528235"/>
            <a:ext cx="1592308" cy="198699"/>
          </a:xfrm>
          <a:prstGeom prst="rect">
            <a:avLst/>
          </a:prstGeom>
          <a:noFill/>
          <a:ln/>
        </p:spPr>
        <p:txBody>
          <a:bodyPr wrap="none" lIns="0" tIns="0" rIns="0" bIns="0" rtlCol="0" anchor="t"/>
          <a:lstStyle/>
          <a:p>
            <a:pPr marL="0" indent="0" algn="l">
              <a:lnSpc>
                <a:spcPct val="104000"/>
              </a:lnSpc>
              <a:buNone/>
            </a:pPr>
            <a:r>
              <a:rPr lang="en-US" sz="1250">
                <a:solidFill>
                  <a:srgbClr val="161613"/>
                </a:solidFill>
                <a:latin typeface="DM Sans Medium" pitchFamily="34" charset="0"/>
                <a:ea typeface="DM Sans Medium" pitchFamily="34" charset="-122"/>
                <a:cs typeface="DM Sans Medium" pitchFamily="34" charset="-120"/>
              </a:rPr>
              <a:t>System Programming</a:t>
            </a:r>
            <a:endParaRPr lang="en-US" sz="1250"/>
          </a:p>
        </p:txBody>
      </p:sp>
      <p:sp>
        <p:nvSpPr>
          <p:cNvPr id="10" name="Text 7"/>
          <p:cNvSpPr/>
          <p:nvPr/>
        </p:nvSpPr>
        <p:spPr>
          <a:xfrm>
            <a:off x="6613011" y="2783452"/>
            <a:ext cx="2585666" cy="126284"/>
          </a:xfrm>
          <a:prstGeom prst="rect">
            <a:avLst/>
          </a:prstGeom>
          <a:noFill/>
          <a:ln/>
        </p:spPr>
        <p:txBody>
          <a:bodyPr wrap="none" lIns="0" tIns="0" rIns="0" bIns="0" rtlCol="0" anchor="t"/>
          <a:lstStyle/>
          <a:p>
            <a:pPr marL="0" indent="0" algn="l">
              <a:lnSpc>
                <a:spcPct val="83000"/>
              </a:lnSpc>
              <a:buNone/>
            </a:pPr>
            <a:r>
              <a:rPr lang="en-US" sz="1000">
                <a:solidFill>
                  <a:srgbClr val="161613"/>
                </a:solidFill>
                <a:latin typeface="Inter" pitchFamily="34" charset="0"/>
                <a:ea typeface="Inter" pitchFamily="34" charset="-122"/>
                <a:cs typeface="Inter" pitchFamily="34" charset="-120"/>
              </a:rPr>
              <a:t>Linux syscalls, file handling, monitoring</a:t>
            </a:r>
            <a:endParaRPr lang="en-US" sz="1000"/>
          </a:p>
        </p:txBody>
      </p:sp>
      <p:sp>
        <p:nvSpPr>
          <p:cNvPr id="11" name="Text 8"/>
          <p:cNvSpPr/>
          <p:nvPr/>
        </p:nvSpPr>
        <p:spPr>
          <a:xfrm>
            <a:off x="6613011" y="1595676"/>
            <a:ext cx="1589548" cy="198698"/>
          </a:xfrm>
          <a:prstGeom prst="rect">
            <a:avLst/>
          </a:prstGeom>
          <a:noFill/>
          <a:ln/>
        </p:spPr>
        <p:txBody>
          <a:bodyPr wrap="none" lIns="0" tIns="0" rIns="0" bIns="0" rtlCol="0" anchor="t"/>
          <a:lstStyle/>
          <a:p>
            <a:pPr marL="0" indent="0" algn="l">
              <a:lnSpc>
                <a:spcPct val="104000"/>
              </a:lnSpc>
              <a:buNone/>
            </a:pPr>
            <a:r>
              <a:rPr lang="en-US" sz="1250">
                <a:solidFill>
                  <a:srgbClr val="161613"/>
                </a:solidFill>
                <a:latin typeface="DM Sans Medium" pitchFamily="34" charset="0"/>
                <a:ea typeface="DM Sans Medium" pitchFamily="34" charset="-122"/>
                <a:cs typeface="DM Sans Medium" pitchFamily="34" charset="-120"/>
              </a:rPr>
              <a:t>Machine Learning</a:t>
            </a:r>
            <a:endParaRPr lang="en-US" sz="1250"/>
          </a:p>
        </p:txBody>
      </p:sp>
      <p:sp>
        <p:nvSpPr>
          <p:cNvPr id="12" name="Text 9"/>
          <p:cNvSpPr/>
          <p:nvPr/>
        </p:nvSpPr>
        <p:spPr>
          <a:xfrm>
            <a:off x="6613011" y="1850893"/>
            <a:ext cx="2585666" cy="252568"/>
          </a:xfrm>
          <a:prstGeom prst="rect">
            <a:avLst/>
          </a:prstGeom>
          <a:noFill/>
          <a:ln/>
        </p:spPr>
        <p:txBody>
          <a:bodyPr wrap="square" lIns="0" tIns="0" rIns="0" bIns="0" rtlCol="0" anchor="t">
            <a:normAutofit lnSpcReduction="10000"/>
          </a:bodyPr>
          <a:lstStyle/>
          <a:p>
            <a:pPr marL="0" indent="0" algn="l">
              <a:lnSpc>
                <a:spcPct val="83000"/>
              </a:lnSpc>
              <a:buNone/>
            </a:pPr>
            <a:r>
              <a:rPr lang="en-US" sz="1000">
                <a:solidFill>
                  <a:srgbClr val="161613"/>
                </a:solidFill>
                <a:latin typeface="Inter" pitchFamily="34" charset="0"/>
                <a:ea typeface="Inter" pitchFamily="34" charset="-122"/>
                <a:cs typeface="Inter" pitchFamily="34" charset="-120"/>
              </a:rPr>
              <a:t>Access history, pattern detection, prediction</a:t>
            </a:r>
            <a:endParaRPr lang="en-US" sz="1000"/>
          </a:p>
        </p:txBody>
      </p:sp>
      <p:sp>
        <p:nvSpPr>
          <p:cNvPr id="13" name="Text 10"/>
          <p:cNvSpPr/>
          <p:nvPr/>
        </p:nvSpPr>
        <p:spPr>
          <a:xfrm>
            <a:off x="661475" y="4380905"/>
            <a:ext cx="10868745" cy="282972"/>
          </a:xfrm>
          <a:prstGeom prst="rect">
            <a:avLst/>
          </a:prstGeom>
          <a:noFill/>
          <a:ln/>
        </p:spPr>
        <p:txBody>
          <a:bodyPr wrap="square" lIns="0" tIns="0" rIns="0" bIns="0" rtlCol="0" anchor="t">
            <a:normAutofit/>
          </a:bodyPr>
          <a:lstStyle/>
          <a:p>
            <a:pPr marL="0" indent="0" algn="l">
              <a:lnSpc>
                <a:spcPct val="106000"/>
              </a:lnSpc>
              <a:buNone/>
            </a:pPr>
            <a:r>
              <a:rPr lang="en-US" sz="850">
                <a:solidFill>
                  <a:srgbClr val="161613"/>
                </a:solidFill>
                <a:latin typeface="Inter" pitchFamily="34" charset="0"/>
                <a:ea typeface="Inter" pitchFamily="34" charset="-122"/>
                <a:cs typeface="Inter" pitchFamily="34" charset="-120"/>
              </a:rPr>
              <a:t>The Operating System layer captures raw file events, System Programming translates these into structured data via Linux system calls, and the Machine Learning layer derives predictive intelligence from the accumulated access history.</a:t>
            </a:r>
            <a:endParaRPr lang="en-US" sz="850"/>
          </a:p>
        </p:txBody>
      </p:sp>
      <p:pic>
        <p:nvPicPr>
          <p:cNvPr id="14" name="Image 1" descr="preencoded.png"/>
          <p:cNvPicPr>
            <a:picLocks noChangeAspect="1"/>
          </p:cNvPicPr>
          <p:nvPr/>
        </p:nvPicPr>
        <p:blipFill>
          <a:blip r:embed="rId4"/>
          <a:stretch>
            <a:fillRect/>
          </a:stretch>
        </p:blipFill>
        <p:spPr>
          <a:xfrm>
            <a:off x="661475" y="4737596"/>
            <a:ext cx="5434373" cy="445294"/>
          </a:xfrm>
          <a:prstGeom prst="rect">
            <a:avLst/>
          </a:prstGeom>
        </p:spPr>
      </p:pic>
      <p:sp>
        <p:nvSpPr>
          <p:cNvPr id="15" name="Text 11"/>
          <p:cNvSpPr/>
          <p:nvPr/>
        </p:nvSpPr>
        <p:spPr>
          <a:xfrm>
            <a:off x="772796" y="5248473"/>
            <a:ext cx="5211731" cy="173930"/>
          </a:xfrm>
          <a:prstGeom prst="rect">
            <a:avLst/>
          </a:prstGeom>
          <a:noFill/>
          <a:ln/>
        </p:spPr>
        <p:txBody>
          <a:bodyPr wrap="none" lIns="0" tIns="0" rIns="0" bIns="0" rtlCol="0" anchor="t"/>
          <a:lstStyle/>
          <a:p>
            <a:pPr marL="0" indent="0" algn="l">
              <a:lnSpc>
                <a:spcPct val="104000"/>
              </a:lnSpc>
              <a:buNone/>
            </a:pPr>
            <a:r>
              <a:rPr lang="en-US" sz="1050">
                <a:solidFill>
                  <a:srgbClr val="161613"/>
                </a:solidFill>
                <a:latin typeface="DM Sans Medium" pitchFamily="34" charset="0"/>
                <a:ea typeface="DM Sans Medium" pitchFamily="34" charset="-122"/>
                <a:cs typeface="DM Sans Medium" pitchFamily="34" charset="-120"/>
              </a:rPr>
              <a:t>Input</a:t>
            </a:r>
            <a:endParaRPr lang="en-US" sz="1050"/>
          </a:p>
        </p:txBody>
      </p:sp>
      <p:pic>
        <p:nvPicPr>
          <p:cNvPr id="16" name="Image 2" descr="preencoded.png"/>
          <p:cNvPicPr>
            <a:picLocks noChangeAspect="1"/>
          </p:cNvPicPr>
          <p:nvPr/>
        </p:nvPicPr>
        <p:blipFill>
          <a:blip r:embed="rId5"/>
          <a:stretch>
            <a:fillRect/>
          </a:stretch>
        </p:blipFill>
        <p:spPr>
          <a:xfrm>
            <a:off x="6095848" y="4737596"/>
            <a:ext cx="5434373" cy="445294"/>
          </a:xfrm>
          <a:prstGeom prst="rect">
            <a:avLst/>
          </a:prstGeom>
        </p:spPr>
      </p:pic>
      <p:sp>
        <p:nvSpPr>
          <p:cNvPr id="17" name="Text 12"/>
          <p:cNvSpPr/>
          <p:nvPr/>
        </p:nvSpPr>
        <p:spPr>
          <a:xfrm>
            <a:off x="6207168" y="5248473"/>
            <a:ext cx="5211731" cy="173930"/>
          </a:xfrm>
          <a:prstGeom prst="rect">
            <a:avLst/>
          </a:prstGeom>
          <a:noFill/>
          <a:ln/>
        </p:spPr>
        <p:txBody>
          <a:bodyPr wrap="none" lIns="0" tIns="0" rIns="0" bIns="0" rtlCol="0" anchor="t"/>
          <a:lstStyle/>
          <a:p>
            <a:pPr marL="0" indent="0" algn="l">
              <a:lnSpc>
                <a:spcPct val="104000"/>
              </a:lnSpc>
              <a:buNone/>
            </a:pPr>
            <a:r>
              <a:rPr lang="en-US" sz="1050">
                <a:solidFill>
                  <a:srgbClr val="161613"/>
                </a:solidFill>
                <a:latin typeface="DM Sans Medium" pitchFamily="34" charset="0"/>
                <a:ea typeface="DM Sans Medium" pitchFamily="34" charset="-122"/>
                <a:cs typeface="DM Sans Medium" pitchFamily="34" charset="-120"/>
              </a:rPr>
              <a:t>Processing</a:t>
            </a:r>
            <a:endParaRPr lang="en-US" sz="1050"/>
          </a:p>
        </p:txBody>
      </p:sp>
      <p:pic>
        <p:nvPicPr>
          <p:cNvPr id="18" name="Image 3" descr="preencoded.png"/>
          <p:cNvPicPr>
            <a:picLocks noChangeAspect="1"/>
          </p:cNvPicPr>
          <p:nvPr/>
        </p:nvPicPr>
        <p:blipFill>
          <a:blip r:embed="rId6"/>
          <a:stretch>
            <a:fillRect/>
          </a:stretch>
        </p:blipFill>
        <p:spPr>
          <a:xfrm>
            <a:off x="661475" y="5533727"/>
            <a:ext cx="5434373" cy="445294"/>
          </a:xfrm>
          <a:prstGeom prst="rect">
            <a:avLst/>
          </a:prstGeom>
        </p:spPr>
      </p:pic>
      <p:sp>
        <p:nvSpPr>
          <p:cNvPr id="19" name="Text 13"/>
          <p:cNvSpPr/>
          <p:nvPr/>
        </p:nvSpPr>
        <p:spPr>
          <a:xfrm>
            <a:off x="772796" y="6044605"/>
            <a:ext cx="5211731" cy="173930"/>
          </a:xfrm>
          <a:prstGeom prst="rect">
            <a:avLst/>
          </a:prstGeom>
          <a:noFill/>
          <a:ln/>
        </p:spPr>
        <p:txBody>
          <a:bodyPr wrap="none" lIns="0" tIns="0" rIns="0" bIns="0" rtlCol="0" anchor="t"/>
          <a:lstStyle/>
          <a:p>
            <a:pPr marL="0" indent="0" algn="l">
              <a:lnSpc>
                <a:spcPct val="104000"/>
              </a:lnSpc>
              <a:buNone/>
            </a:pPr>
            <a:r>
              <a:rPr lang="en-US" sz="1050">
                <a:solidFill>
                  <a:srgbClr val="161613"/>
                </a:solidFill>
                <a:latin typeface="DM Sans Medium" pitchFamily="34" charset="0"/>
                <a:ea typeface="DM Sans Medium" pitchFamily="34" charset="-122"/>
                <a:cs typeface="DM Sans Medium" pitchFamily="34" charset="-120"/>
              </a:rPr>
              <a:t>Prediction</a:t>
            </a:r>
            <a:endParaRPr lang="en-US" sz="1050"/>
          </a:p>
        </p:txBody>
      </p:sp>
      <p:pic>
        <p:nvPicPr>
          <p:cNvPr id="20" name="Image 4" descr="preencoded.png"/>
          <p:cNvPicPr>
            <a:picLocks noChangeAspect="1"/>
          </p:cNvPicPr>
          <p:nvPr/>
        </p:nvPicPr>
        <p:blipFill>
          <a:blip r:embed="rId7"/>
          <a:stretch>
            <a:fillRect/>
          </a:stretch>
        </p:blipFill>
        <p:spPr>
          <a:xfrm>
            <a:off x="6095848" y="5533727"/>
            <a:ext cx="5434373" cy="445294"/>
          </a:xfrm>
          <a:prstGeom prst="rect">
            <a:avLst/>
          </a:prstGeom>
        </p:spPr>
      </p:pic>
      <p:sp>
        <p:nvSpPr>
          <p:cNvPr id="21" name="Text 14"/>
          <p:cNvSpPr/>
          <p:nvPr/>
        </p:nvSpPr>
        <p:spPr>
          <a:xfrm>
            <a:off x="6207168" y="6044605"/>
            <a:ext cx="5211731" cy="173930"/>
          </a:xfrm>
          <a:prstGeom prst="rect">
            <a:avLst/>
          </a:prstGeom>
          <a:noFill/>
          <a:ln/>
        </p:spPr>
        <p:txBody>
          <a:bodyPr wrap="none" lIns="0" tIns="0" rIns="0" bIns="0" rtlCol="0" anchor="t"/>
          <a:lstStyle/>
          <a:p>
            <a:pPr marL="0" indent="0" algn="l">
              <a:lnSpc>
                <a:spcPct val="104000"/>
              </a:lnSpc>
              <a:buNone/>
            </a:pPr>
            <a:r>
              <a:rPr lang="en-US" sz="1050">
                <a:solidFill>
                  <a:srgbClr val="161613"/>
                </a:solidFill>
                <a:latin typeface="DM Sans Medium" pitchFamily="34" charset="0"/>
                <a:ea typeface="DM Sans Medium" pitchFamily="34" charset="-122"/>
                <a:cs typeface="DM Sans Medium" pitchFamily="34" charset="-120"/>
              </a:rPr>
              <a:t>Action</a:t>
            </a:r>
            <a:endParaRPr lang="en-US" sz="10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624185"/>
            <a:ext cx="1407184" cy="287139"/>
          </a:xfrm>
          <a:prstGeom prst="roundRect">
            <a:avLst>
              <a:gd name="adj" fmla="val 7899"/>
            </a:avLst>
          </a:prstGeom>
          <a:noFill/>
          <a:ln w="6350">
            <a:solidFill>
              <a:srgbClr val="28282F"/>
            </a:solidFill>
            <a:prstDash val="solid"/>
          </a:ln>
        </p:spPr>
      </p:sp>
      <p:sp>
        <p:nvSpPr>
          <p:cNvPr id="3" name="Text 1"/>
          <p:cNvSpPr/>
          <p:nvPr/>
        </p:nvSpPr>
        <p:spPr>
          <a:xfrm>
            <a:off x="774879" y="680839"/>
            <a:ext cx="1789961" cy="173831"/>
          </a:xfrm>
          <a:prstGeom prst="rect">
            <a:avLst/>
          </a:prstGeom>
          <a:noFill/>
          <a:ln/>
        </p:spPr>
        <p:txBody>
          <a:bodyPr wrap="none" lIns="0" tIns="0" rIns="0" bIns="0" rtlCol="0" anchor="t"/>
          <a:lstStyle/>
          <a:p>
            <a:pPr marL="0" indent="0" algn="l">
              <a:lnSpc>
                <a:spcPct val="96000"/>
              </a:lnSpc>
              <a:buNone/>
            </a:pPr>
            <a:r>
              <a:rPr lang="en-US" sz="1150">
                <a:solidFill>
                  <a:srgbClr val="28282F"/>
                </a:solidFill>
                <a:latin typeface="Inter" pitchFamily="34" charset="0"/>
                <a:ea typeface="Inter" pitchFamily="34" charset="-122"/>
                <a:cs typeface="Inter" pitchFamily="34" charset="-120"/>
              </a:rPr>
              <a:t>REQUIREMENTS</a:t>
            </a:r>
            <a:endParaRPr lang="en-US" sz="1150"/>
          </a:p>
        </p:txBody>
      </p:sp>
      <p:sp>
        <p:nvSpPr>
          <p:cNvPr id="4" name="Text 2"/>
          <p:cNvSpPr/>
          <p:nvPr/>
        </p:nvSpPr>
        <p:spPr>
          <a:xfrm>
            <a:off x="661475" y="986929"/>
            <a:ext cx="10868745" cy="590649"/>
          </a:xfrm>
          <a:prstGeom prst="rect">
            <a:avLst/>
          </a:prstGeom>
          <a:noFill/>
          <a:ln/>
        </p:spPr>
        <p:txBody>
          <a:bodyPr wrap="none" lIns="0" tIns="0" rIns="0" bIns="0" rtlCol="0" anchor="t"/>
          <a:lstStyle/>
          <a:p>
            <a:pPr marL="0" indent="0" algn="l">
              <a:lnSpc>
                <a:spcPct val="104000"/>
              </a:lnSpc>
              <a:buNone/>
            </a:pPr>
            <a:r>
              <a:rPr lang="en-US" sz="3700">
                <a:solidFill>
                  <a:srgbClr val="161613"/>
                </a:solidFill>
                <a:latin typeface="DM Sans Medium" pitchFamily="34" charset="0"/>
                <a:ea typeface="DM Sans Medium" pitchFamily="34" charset="-122"/>
                <a:cs typeface="DM Sans Medium" pitchFamily="34" charset="-120"/>
              </a:rPr>
              <a:t>Hardware &amp; Software Requirements</a:t>
            </a:r>
            <a:endParaRPr lang="en-US" sz="3700"/>
          </a:p>
        </p:txBody>
      </p:sp>
      <p:sp>
        <p:nvSpPr>
          <p:cNvPr id="5" name="Shape 3"/>
          <p:cNvSpPr/>
          <p:nvPr/>
        </p:nvSpPr>
        <p:spPr>
          <a:xfrm>
            <a:off x="525350" y="1861046"/>
            <a:ext cx="5476043" cy="3252788"/>
          </a:xfrm>
          <a:prstGeom prst="roundRect">
            <a:avLst>
              <a:gd name="adj" fmla="val 872"/>
            </a:avLst>
          </a:prstGeom>
          <a:solidFill>
            <a:srgbClr val="28282F"/>
          </a:solidFill>
          <a:ln/>
        </p:spPr>
      </p:sp>
      <p:sp>
        <p:nvSpPr>
          <p:cNvPr id="6" name="Text 4"/>
          <p:cNvSpPr/>
          <p:nvPr/>
        </p:nvSpPr>
        <p:spPr>
          <a:xfrm>
            <a:off x="714357" y="2050058"/>
            <a:ext cx="5098029" cy="295275"/>
          </a:xfrm>
          <a:prstGeom prst="rect">
            <a:avLst/>
          </a:prstGeom>
          <a:noFill/>
          <a:ln/>
        </p:spPr>
        <p:txBody>
          <a:bodyPr wrap="none" lIns="0" tIns="0" rIns="0" bIns="0" rtlCol="0" anchor="t"/>
          <a:lstStyle/>
          <a:p>
            <a:pPr marL="0" indent="0" algn="l">
              <a:lnSpc>
                <a:spcPct val="104000"/>
              </a:lnSpc>
              <a:buNone/>
            </a:pPr>
            <a:r>
              <a:rPr lang="en-US" sz="1850">
                <a:solidFill>
                  <a:srgbClr val="FFFFFF"/>
                </a:solidFill>
                <a:latin typeface="DM Sans Medium" pitchFamily="34" charset="0"/>
                <a:ea typeface="DM Sans Medium" pitchFamily="34" charset="-122"/>
                <a:cs typeface="DM Sans Medium" pitchFamily="34" charset="-120"/>
              </a:rPr>
              <a:t>Hardware</a:t>
            </a:r>
            <a:endParaRPr lang="en-US" sz="1850"/>
          </a:p>
        </p:txBody>
      </p:sp>
      <p:sp>
        <p:nvSpPr>
          <p:cNvPr id="7" name="Text 5"/>
          <p:cNvSpPr/>
          <p:nvPr/>
        </p:nvSpPr>
        <p:spPr>
          <a:xfrm>
            <a:off x="714357" y="2534345"/>
            <a:ext cx="5098029" cy="1407914"/>
          </a:xfrm>
          <a:prstGeom prst="rect">
            <a:avLst/>
          </a:prstGeom>
          <a:noFill/>
          <a:ln/>
        </p:spPr>
        <p:txBody>
          <a:bodyPr wrap="square" lIns="0" tIns="75608" rIns="0" bIns="0" rtlCol="0" anchor="t">
            <a:normAutofit/>
          </a:bodyPr>
          <a:lstStyle/>
          <a:p>
            <a:pPr marL="294640" indent="-294640" algn="l">
              <a:lnSpc>
                <a:spcPct val="133000"/>
              </a:lnSpc>
              <a:buSzPct val="100000"/>
              <a:buChar char="•"/>
            </a:pPr>
            <a:r>
              <a:rPr lang="en-US" sz="1450">
                <a:solidFill>
                  <a:srgbClr val="FFFFFF"/>
                </a:solidFill>
                <a:latin typeface="Inter" pitchFamily="34" charset="0"/>
                <a:ea typeface="Inter" pitchFamily="34" charset="-122"/>
                <a:cs typeface="Inter" pitchFamily="34" charset="-120"/>
              </a:rPr>
              <a:t>Laptop / Desktop</a:t>
            </a:r>
            <a:endParaRPr lang="en-US" sz="1450"/>
          </a:p>
          <a:p>
            <a:pPr marL="294640" indent="-294640" algn="l">
              <a:lnSpc>
                <a:spcPct val="133000"/>
              </a:lnSpc>
              <a:buSzPct val="100000"/>
              <a:buChar char="•"/>
            </a:pPr>
            <a:r>
              <a:rPr lang="en-US" sz="1450">
                <a:solidFill>
                  <a:srgbClr val="FFFFFF"/>
                </a:solidFill>
                <a:latin typeface="Inter" pitchFamily="34" charset="0"/>
                <a:ea typeface="Inter" pitchFamily="34" charset="-122"/>
                <a:cs typeface="Inter" pitchFamily="34" charset="-120"/>
              </a:rPr>
              <a:t>4 GB+ RAM</a:t>
            </a:r>
            <a:endParaRPr lang="en-US" sz="1450"/>
          </a:p>
          <a:p>
            <a:pPr marL="294640" indent="-294640" algn="l">
              <a:lnSpc>
                <a:spcPct val="133000"/>
              </a:lnSpc>
              <a:buSzPct val="100000"/>
              <a:buChar char="•"/>
            </a:pPr>
            <a:r>
              <a:rPr lang="en-US" sz="1450">
                <a:solidFill>
                  <a:srgbClr val="FFFFFF"/>
                </a:solidFill>
                <a:latin typeface="Inter" pitchFamily="34" charset="0"/>
                <a:ea typeface="Inter" pitchFamily="34" charset="-122"/>
                <a:cs typeface="Inter" pitchFamily="34" charset="-120"/>
              </a:rPr>
              <a:t>Modern Processor</a:t>
            </a:r>
            <a:endParaRPr lang="en-US" sz="1450"/>
          </a:p>
          <a:p>
            <a:pPr marL="294640" indent="-294640" algn="l">
              <a:lnSpc>
                <a:spcPct val="133000"/>
              </a:lnSpc>
              <a:buSzPct val="100000"/>
              <a:buChar char="•"/>
            </a:pPr>
            <a:r>
              <a:rPr lang="en-US" sz="1450">
                <a:solidFill>
                  <a:srgbClr val="FFFFFF"/>
                </a:solidFill>
                <a:latin typeface="Inter" pitchFamily="34" charset="0"/>
                <a:ea typeface="Inter" pitchFamily="34" charset="-122"/>
                <a:cs typeface="Inter" pitchFamily="34" charset="-120"/>
              </a:rPr>
              <a:t>10 GB+ Storage</a:t>
            </a:r>
            <a:endParaRPr lang="en-US" sz="1450"/>
          </a:p>
        </p:txBody>
      </p:sp>
      <p:sp>
        <p:nvSpPr>
          <p:cNvPr id="8" name="Text 6"/>
          <p:cNvSpPr/>
          <p:nvPr/>
        </p:nvSpPr>
        <p:spPr>
          <a:xfrm>
            <a:off x="6332776" y="2050058"/>
            <a:ext cx="5203794" cy="295275"/>
          </a:xfrm>
          <a:prstGeom prst="rect">
            <a:avLst/>
          </a:prstGeom>
          <a:noFill/>
          <a:ln/>
        </p:spPr>
        <p:txBody>
          <a:bodyPr wrap="none" lIns="0" tIns="0" rIns="0" bIns="0" rtlCol="0" anchor="t"/>
          <a:lstStyle/>
          <a:p>
            <a:pPr marL="0" indent="0" algn="l">
              <a:lnSpc>
                <a:spcPct val="104000"/>
              </a:lnSpc>
              <a:buNone/>
            </a:pPr>
            <a:r>
              <a:rPr lang="en-US" sz="1850">
                <a:solidFill>
                  <a:srgbClr val="161613"/>
                </a:solidFill>
                <a:latin typeface="DM Sans Medium" pitchFamily="34" charset="0"/>
                <a:ea typeface="DM Sans Medium" pitchFamily="34" charset="-122"/>
                <a:cs typeface="DM Sans Medium" pitchFamily="34" charset="-120"/>
              </a:rPr>
              <a:t>Software</a:t>
            </a:r>
            <a:endParaRPr lang="en-US" sz="1850"/>
          </a:p>
        </p:txBody>
      </p:sp>
      <p:sp>
        <p:nvSpPr>
          <p:cNvPr id="9" name="Text 7"/>
          <p:cNvSpPr/>
          <p:nvPr/>
        </p:nvSpPr>
        <p:spPr>
          <a:xfrm>
            <a:off x="6332776" y="2534345"/>
            <a:ext cx="5203794" cy="2513409"/>
          </a:xfrm>
          <a:prstGeom prst="rect">
            <a:avLst/>
          </a:prstGeom>
          <a:noFill/>
          <a:ln/>
        </p:spPr>
        <p:txBody>
          <a:bodyPr wrap="square" lIns="0" tIns="75608" rIns="0" bIns="0" rtlCol="0" anchor="t">
            <a:normAutofit/>
          </a:bodyPr>
          <a:lstStyle/>
          <a:p>
            <a:pPr marL="294640" indent="-294640" algn="l">
              <a:lnSpc>
                <a:spcPct val="133000"/>
              </a:lnSpc>
              <a:buSzPct val="100000"/>
              <a:buChar char="•"/>
            </a:pPr>
            <a:r>
              <a:rPr lang="en-US" sz="1450">
                <a:solidFill>
                  <a:srgbClr val="161613"/>
                </a:solidFill>
                <a:latin typeface="Inter" pitchFamily="34" charset="0"/>
                <a:ea typeface="Inter" pitchFamily="34" charset="-122"/>
                <a:cs typeface="Inter" pitchFamily="34" charset="-120"/>
              </a:rPr>
              <a:t>Linux / Ubuntu</a:t>
            </a:r>
            <a:endParaRPr lang="en-US" sz="1450"/>
          </a:p>
          <a:p>
            <a:pPr marL="294640" indent="-294640" algn="l">
              <a:lnSpc>
                <a:spcPct val="133000"/>
              </a:lnSpc>
              <a:buSzPct val="100000"/>
              <a:buChar char="•"/>
            </a:pPr>
            <a:r>
              <a:rPr lang="en-US" sz="1450">
                <a:solidFill>
                  <a:srgbClr val="161613"/>
                </a:solidFill>
                <a:latin typeface="Inter" pitchFamily="34" charset="0"/>
                <a:ea typeface="Inter" pitchFamily="34" charset="-122"/>
                <a:cs typeface="Inter" pitchFamily="34" charset="-120"/>
              </a:rPr>
              <a:t>C / C++</a:t>
            </a:r>
            <a:endParaRPr lang="en-US" sz="1450"/>
          </a:p>
          <a:p>
            <a:pPr marL="294640" indent="-294640" algn="l">
              <a:lnSpc>
                <a:spcPct val="133000"/>
              </a:lnSpc>
              <a:buSzPct val="100000"/>
              <a:buChar char="•"/>
            </a:pPr>
            <a:r>
              <a:rPr lang="en-US" sz="1450">
                <a:solidFill>
                  <a:srgbClr val="161613"/>
                </a:solidFill>
                <a:latin typeface="Inter" pitchFamily="34" charset="0"/>
                <a:ea typeface="Inter" pitchFamily="34" charset="-122"/>
                <a:cs typeface="Inter" pitchFamily="34" charset="-120"/>
              </a:rPr>
              <a:t>Python</a:t>
            </a:r>
            <a:endParaRPr lang="en-US" sz="1450"/>
          </a:p>
          <a:p>
            <a:pPr marL="294640" indent="-294640" algn="l">
              <a:lnSpc>
                <a:spcPct val="133000"/>
              </a:lnSpc>
              <a:buSzPct val="100000"/>
              <a:buChar char="•"/>
            </a:pPr>
            <a:r>
              <a:rPr lang="en-US" sz="1450">
                <a:solidFill>
                  <a:srgbClr val="161613"/>
                </a:solidFill>
                <a:latin typeface="Inter" pitchFamily="34" charset="0"/>
                <a:ea typeface="Inter" pitchFamily="34" charset="-122"/>
                <a:cs typeface="Inter" pitchFamily="34" charset="-120"/>
              </a:rPr>
              <a:t>GCC</a:t>
            </a:r>
            <a:endParaRPr lang="en-US" sz="1450"/>
          </a:p>
          <a:p>
            <a:pPr marL="294640" indent="-294640" algn="l">
              <a:lnSpc>
                <a:spcPct val="133000"/>
              </a:lnSpc>
              <a:buSzPct val="100000"/>
              <a:buChar char="•"/>
            </a:pPr>
            <a:r>
              <a:rPr lang="en-US" sz="1450">
                <a:solidFill>
                  <a:srgbClr val="161613"/>
                </a:solidFill>
                <a:latin typeface="Inter" pitchFamily="34" charset="0"/>
                <a:ea typeface="Inter" pitchFamily="34" charset="-122"/>
                <a:cs typeface="Inter" pitchFamily="34" charset="-120"/>
              </a:rPr>
              <a:t>Linux System Calls</a:t>
            </a:r>
            <a:endParaRPr lang="en-US" sz="1450"/>
          </a:p>
          <a:p>
            <a:pPr marL="294640" indent="-294640" algn="l">
              <a:lnSpc>
                <a:spcPct val="133000"/>
              </a:lnSpc>
              <a:buSzPct val="100000"/>
              <a:buChar char="•"/>
            </a:pPr>
            <a:r>
              <a:rPr lang="en-US" sz="1450">
                <a:solidFill>
                  <a:srgbClr val="161613"/>
                </a:solidFill>
                <a:latin typeface="Inter" pitchFamily="34" charset="0"/>
                <a:ea typeface="Inter" pitchFamily="34" charset="-122"/>
                <a:cs typeface="Inter" pitchFamily="34" charset="-120"/>
              </a:rPr>
              <a:t>NumPy · Pandas · Scikit-learn</a:t>
            </a:r>
            <a:endParaRPr lang="en-US" sz="1450"/>
          </a:p>
          <a:p>
            <a:pPr marL="294640" indent="-294640" algn="l">
              <a:lnSpc>
                <a:spcPct val="133000"/>
              </a:lnSpc>
              <a:buSzPct val="100000"/>
              <a:buChar char="•"/>
            </a:pPr>
            <a:r>
              <a:rPr lang="en-US" sz="1450">
                <a:solidFill>
                  <a:srgbClr val="161613"/>
                </a:solidFill>
                <a:latin typeface="Inter" pitchFamily="34" charset="0"/>
                <a:ea typeface="Inter" pitchFamily="34" charset="-122"/>
                <a:cs typeface="Inter" pitchFamily="34" charset="-120"/>
              </a:rPr>
              <a:t>VS Code</a:t>
            </a:r>
            <a:endParaRPr lang="en-US" sz="1450"/>
          </a:p>
        </p:txBody>
      </p:sp>
      <p:sp>
        <p:nvSpPr>
          <p:cNvPr id="10" name="Text 8"/>
          <p:cNvSpPr/>
          <p:nvPr/>
        </p:nvSpPr>
        <p:spPr>
          <a:xfrm>
            <a:off x="661475" y="5326459"/>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a:solidFill>
                  <a:srgbClr val="161613"/>
                </a:solidFill>
                <a:latin typeface="Inter" pitchFamily="34" charset="0"/>
                <a:ea typeface="Inter" pitchFamily="34" charset="-122"/>
                <a:cs typeface="Inter" pitchFamily="34" charset="-120"/>
              </a:rPr>
              <a:t>The hardware requirements are modest, ensuring FileMind can be deployed on standard development machines. The software stack leverages widely available open-source tools, with Linux system calls forming the bridge between the OS kernel and the prediction engine.</a:t>
            </a:r>
            <a:endParaRPr lang="en-US" sz="14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63463"/>
            <a:ext cx="972518" cy="254397"/>
          </a:xfrm>
          <a:prstGeom prst="roundRect">
            <a:avLst>
              <a:gd name="adj" fmla="val 7899"/>
            </a:avLst>
          </a:prstGeom>
          <a:noFill/>
          <a:ln w="6350">
            <a:solidFill>
              <a:srgbClr val="28282F"/>
            </a:solidFill>
            <a:prstDash val="solid"/>
          </a:ln>
        </p:spPr>
      </p:sp>
      <p:sp>
        <p:nvSpPr>
          <p:cNvPr id="3" name="Text 1"/>
          <p:cNvSpPr/>
          <p:nvPr/>
        </p:nvSpPr>
        <p:spPr>
          <a:xfrm>
            <a:off x="761882" y="613668"/>
            <a:ext cx="1381289" cy="153987"/>
          </a:xfrm>
          <a:prstGeom prst="rect">
            <a:avLst/>
          </a:prstGeom>
          <a:noFill/>
          <a:ln/>
        </p:spPr>
        <p:txBody>
          <a:bodyPr wrap="none" lIns="0" tIns="0" rIns="0" bIns="0" rtlCol="0" anchor="t"/>
          <a:lstStyle/>
          <a:p>
            <a:pPr marL="0" indent="0" algn="l">
              <a:lnSpc>
                <a:spcPct val="96000"/>
              </a:lnSpc>
              <a:buNone/>
            </a:pPr>
            <a:r>
              <a:rPr lang="en-US" sz="1050">
                <a:solidFill>
                  <a:srgbClr val="28282F"/>
                </a:solidFill>
                <a:latin typeface="Inter" pitchFamily="34" charset="0"/>
                <a:ea typeface="Inter" pitchFamily="34" charset="-122"/>
                <a:cs typeface="Inter" pitchFamily="34" charset="-120"/>
              </a:rPr>
              <a:t>OUTCOMES</a:t>
            </a:r>
            <a:endParaRPr lang="en-US" sz="1050"/>
          </a:p>
        </p:txBody>
      </p:sp>
      <p:sp>
        <p:nvSpPr>
          <p:cNvPr id="4" name="Text 2"/>
          <p:cNvSpPr/>
          <p:nvPr/>
        </p:nvSpPr>
        <p:spPr>
          <a:xfrm>
            <a:off x="661475" y="877193"/>
            <a:ext cx="10868745" cy="523379"/>
          </a:xfrm>
          <a:prstGeom prst="rect">
            <a:avLst/>
          </a:prstGeom>
          <a:noFill/>
          <a:ln/>
        </p:spPr>
        <p:txBody>
          <a:bodyPr wrap="none" lIns="0" tIns="0" rIns="0" bIns="0" rtlCol="0" anchor="t"/>
          <a:lstStyle/>
          <a:p>
            <a:pPr marL="0" indent="0" algn="l">
              <a:lnSpc>
                <a:spcPct val="104000"/>
              </a:lnSpc>
              <a:buNone/>
            </a:pPr>
            <a:r>
              <a:rPr lang="en-US" sz="3250">
                <a:solidFill>
                  <a:srgbClr val="161613"/>
                </a:solidFill>
                <a:latin typeface="DM Sans Medium" pitchFamily="34" charset="0"/>
                <a:ea typeface="DM Sans Medium" pitchFamily="34" charset="-122"/>
                <a:cs typeface="DM Sans Medium" pitchFamily="34" charset="-120"/>
              </a:rPr>
              <a:t>Expected Outcome</a:t>
            </a:r>
            <a:endParaRPr lang="en-US" sz="3250"/>
          </a:p>
        </p:txBody>
      </p:sp>
      <p:sp>
        <p:nvSpPr>
          <p:cNvPr id="5" name="Shape 3"/>
          <p:cNvSpPr/>
          <p:nvPr/>
        </p:nvSpPr>
        <p:spPr>
          <a:xfrm>
            <a:off x="661475" y="1623020"/>
            <a:ext cx="10868745" cy="938014"/>
          </a:xfrm>
          <a:prstGeom prst="roundRect">
            <a:avLst>
              <a:gd name="adj" fmla="val 2678"/>
            </a:avLst>
          </a:prstGeom>
          <a:solidFill>
            <a:srgbClr val="EDEBE3"/>
          </a:solidFill>
          <a:ln/>
        </p:spPr>
      </p:sp>
      <p:sp>
        <p:nvSpPr>
          <p:cNvPr id="6" name="Shape 4"/>
          <p:cNvSpPr/>
          <p:nvPr/>
        </p:nvSpPr>
        <p:spPr>
          <a:xfrm>
            <a:off x="661475" y="1623020"/>
            <a:ext cx="5434373" cy="938014"/>
          </a:xfrm>
          <a:custGeom>
            <a:avLst/>
            <a:gdLst/>
            <a:ahLst/>
            <a:cxnLst/>
            <a:rect l="l" t="t" r="r" b="b"/>
            <a:pathLst>
              <a:path w="5434373" h="938014">
                <a:moveTo>
                  <a:pt x="20932" y="0"/>
                </a:moveTo>
                <a:lnTo>
                  <a:pt x="5434373" y="0"/>
                </a:lnTo>
                <a:lnTo>
                  <a:pt x="5434373" y="938014"/>
                </a:lnTo>
                <a:lnTo>
                  <a:pt x="20932" y="938014"/>
                </a:lnTo>
                <a:arcTo wR="20932" hR="20933" stAng="5400000" swAng="5400000"/>
                <a:lnTo>
                  <a:pt x="0" y="20933"/>
                </a:lnTo>
                <a:arcTo wR="20932" hR="20933" stAng="10800000" swAng="5400000"/>
                <a:close/>
              </a:path>
            </a:pathLst>
          </a:custGeom>
          <a:solidFill>
            <a:srgbClr val="EDEBE3"/>
          </a:solidFill>
          <a:ln/>
        </p:spPr>
      </p:sp>
      <p:sp>
        <p:nvSpPr>
          <p:cNvPr id="7" name="Text 5"/>
          <p:cNvSpPr/>
          <p:nvPr/>
        </p:nvSpPr>
        <p:spPr>
          <a:xfrm>
            <a:off x="828853" y="1790402"/>
            <a:ext cx="5099617" cy="261640"/>
          </a:xfrm>
          <a:prstGeom prst="rect">
            <a:avLst/>
          </a:prstGeom>
          <a:noFill/>
          <a:ln/>
        </p:spPr>
        <p:txBody>
          <a:bodyPr wrap="none" lIns="0" tIns="0" rIns="0" bIns="0" rtlCol="0" anchor="t"/>
          <a:lstStyle/>
          <a:p>
            <a:pPr marL="0" indent="0" algn="l">
              <a:lnSpc>
                <a:spcPct val="104000"/>
              </a:lnSpc>
              <a:buNone/>
            </a:pPr>
            <a:r>
              <a:rPr lang="en-US" sz="1600">
                <a:solidFill>
                  <a:srgbClr val="161613"/>
                </a:solidFill>
                <a:latin typeface="DM Sans Medium" pitchFamily="34" charset="0"/>
                <a:ea typeface="DM Sans Medium" pitchFamily="34" charset="-122"/>
                <a:cs typeface="DM Sans Medium" pitchFamily="34" charset="-120"/>
              </a:rPr>
              <a:t>Traditional File Access</a:t>
            </a:r>
            <a:endParaRPr lang="en-US" sz="1600"/>
          </a:p>
        </p:txBody>
      </p:sp>
      <p:sp>
        <p:nvSpPr>
          <p:cNvPr id="8" name="Text 6"/>
          <p:cNvSpPr/>
          <p:nvPr/>
        </p:nvSpPr>
        <p:spPr>
          <a:xfrm>
            <a:off x="828853" y="2141041"/>
            <a:ext cx="5099617" cy="252611"/>
          </a:xfrm>
          <a:prstGeom prst="rect">
            <a:avLst/>
          </a:prstGeom>
          <a:noFill/>
          <a:ln/>
        </p:spPr>
        <p:txBody>
          <a:bodyPr wrap="none" lIns="0" tIns="0" rIns="0" bIns="0" rtlCol="0" anchor="t"/>
          <a:lstStyle/>
          <a:p>
            <a:pPr marL="0" indent="0" algn="l">
              <a:lnSpc>
                <a:spcPct val="126000"/>
              </a:lnSpc>
              <a:buNone/>
            </a:pPr>
            <a:r>
              <a:rPr lang="en-US" sz="1300">
                <a:solidFill>
                  <a:srgbClr val="161613"/>
                </a:solidFill>
                <a:latin typeface="Inter" pitchFamily="34" charset="0"/>
                <a:ea typeface="Inter" pitchFamily="34" charset="-122"/>
                <a:cs typeface="Inter" pitchFamily="34" charset="-120"/>
              </a:rPr>
              <a:t>User Request → Disk Access → File Retrieval</a:t>
            </a:r>
            <a:endParaRPr lang="en-US" sz="1300"/>
          </a:p>
        </p:txBody>
      </p:sp>
      <p:sp>
        <p:nvSpPr>
          <p:cNvPr id="9" name="Shape 7"/>
          <p:cNvSpPr/>
          <p:nvPr/>
        </p:nvSpPr>
        <p:spPr>
          <a:xfrm>
            <a:off x="6095848" y="1623020"/>
            <a:ext cx="5434373" cy="938014"/>
          </a:xfrm>
          <a:custGeom>
            <a:avLst/>
            <a:gdLst/>
            <a:ahLst/>
            <a:cxnLst/>
            <a:rect l="l" t="t" r="r" b="b"/>
            <a:pathLst>
              <a:path w="5434373" h="938014">
                <a:moveTo>
                  <a:pt x="0" y="0"/>
                </a:moveTo>
                <a:lnTo>
                  <a:pt x="5413440" y="0"/>
                </a:lnTo>
                <a:arcTo wR="20932" hR="20933" stAng="16200000" swAng="5400000"/>
                <a:lnTo>
                  <a:pt x="5434373" y="917081"/>
                </a:lnTo>
                <a:arcTo wR="20932" hR="20933" stAng="0" swAng="5400000"/>
                <a:lnTo>
                  <a:pt x="0" y="938014"/>
                </a:lnTo>
                <a:lnTo>
                  <a:pt x="0" y="0"/>
                </a:lnTo>
                <a:close/>
              </a:path>
            </a:pathLst>
          </a:custGeom>
          <a:solidFill>
            <a:srgbClr val="EDEBE3"/>
          </a:solidFill>
          <a:ln/>
        </p:spPr>
      </p:sp>
      <p:sp>
        <p:nvSpPr>
          <p:cNvPr id="10" name="Shape 8"/>
          <p:cNvSpPr/>
          <p:nvPr/>
        </p:nvSpPr>
        <p:spPr>
          <a:xfrm>
            <a:off x="6095848" y="1623020"/>
            <a:ext cx="19050" cy="938014"/>
          </a:xfrm>
          <a:prstGeom prst="roundRect">
            <a:avLst>
              <a:gd name="adj" fmla="val 49999"/>
            </a:avLst>
          </a:prstGeom>
          <a:solidFill>
            <a:srgbClr val="D3D1C9"/>
          </a:solidFill>
          <a:ln/>
        </p:spPr>
      </p:sp>
      <p:sp>
        <p:nvSpPr>
          <p:cNvPr id="11" name="Text 9"/>
          <p:cNvSpPr/>
          <p:nvPr/>
        </p:nvSpPr>
        <p:spPr>
          <a:xfrm>
            <a:off x="6263225" y="1790402"/>
            <a:ext cx="5099617" cy="261640"/>
          </a:xfrm>
          <a:prstGeom prst="rect">
            <a:avLst/>
          </a:prstGeom>
          <a:noFill/>
          <a:ln/>
        </p:spPr>
        <p:txBody>
          <a:bodyPr wrap="none" lIns="0" tIns="0" rIns="0" bIns="0" rtlCol="0" anchor="t"/>
          <a:lstStyle/>
          <a:p>
            <a:pPr marL="0" indent="0" algn="l">
              <a:lnSpc>
                <a:spcPct val="104000"/>
              </a:lnSpc>
              <a:buNone/>
            </a:pPr>
            <a:r>
              <a:rPr lang="en-US" sz="1600">
                <a:solidFill>
                  <a:srgbClr val="161613"/>
                </a:solidFill>
                <a:latin typeface="DM Sans Medium" pitchFamily="34" charset="0"/>
                <a:ea typeface="DM Sans Medium" pitchFamily="34" charset="-122"/>
                <a:cs typeface="DM Sans Medium" pitchFamily="34" charset="-120"/>
              </a:rPr>
              <a:t>FileMind</a:t>
            </a:r>
            <a:endParaRPr lang="en-US" sz="1600"/>
          </a:p>
        </p:txBody>
      </p:sp>
      <p:sp>
        <p:nvSpPr>
          <p:cNvPr id="12" name="Text 10"/>
          <p:cNvSpPr/>
          <p:nvPr/>
        </p:nvSpPr>
        <p:spPr>
          <a:xfrm>
            <a:off x="6263225" y="2141041"/>
            <a:ext cx="5099617" cy="252611"/>
          </a:xfrm>
          <a:prstGeom prst="rect">
            <a:avLst/>
          </a:prstGeom>
          <a:noFill/>
          <a:ln/>
        </p:spPr>
        <p:txBody>
          <a:bodyPr wrap="none" lIns="0" tIns="0" rIns="0" bIns="0" rtlCol="0" anchor="t"/>
          <a:lstStyle/>
          <a:p>
            <a:pPr marL="0" indent="0" algn="l">
              <a:lnSpc>
                <a:spcPct val="126000"/>
              </a:lnSpc>
              <a:buNone/>
            </a:pPr>
            <a:r>
              <a:rPr lang="en-US" sz="1300">
                <a:solidFill>
                  <a:srgbClr val="161613"/>
                </a:solidFill>
                <a:latin typeface="Inter" pitchFamily="34" charset="0"/>
                <a:ea typeface="Inter" pitchFamily="34" charset="-122"/>
                <a:cs typeface="Inter" pitchFamily="34" charset="-120"/>
              </a:rPr>
              <a:t>User Behaviour → Prediction → Prefetch → Faster Retrieval</a:t>
            </a:r>
            <a:endParaRPr lang="en-US" sz="130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727920"/>
            <a:ext cx="334855" cy="334863"/>
          </a:xfrm>
          <a:prstGeom prst="rect">
            <a:avLst/>
          </a:prstGeom>
        </p:spPr>
      </p:pic>
      <p:sp>
        <p:nvSpPr>
          <p:cNvPr id="14" name="Text 11"/>
          <p:cNvSpPr/>
          <p:nvPr/>
        </p:nvSpPr>
        <p:spPr>
          <a:xfrm>
            <a:off x="661475" y="3248223"/>
            <a:ext cx="5341605" cy="261640"/>
          </a:xfrm>
          <a:prstGeom prst="rect">
            <a:avLst/>
          </a:prstGeom>
          <a:noFill/>
          <a:ln/>
        </p:spPr>
        <p:txBody>
          <a:bodyPr wrap="none" lIns="0" tIns="0" rIns="0" bIns="0" rtlCol="0" anchor="t"/>
          <a:lstStyle/>
          <a:p>
            <a:pPr marL="0" indent="0" algn="l">
              <a:lnSpc>
                <a:spcPct val="104000"/>
              </a:lnSpc>
              <a:buNone/>
            </a:pPr>
            <a:r>
              <a:rPr lang="en-US" sz="1600">
                <a:solidFill>
                  <a:srgbClr val="161613"/>
                </a:solidFill>
                <a:latin typeface="DM Sans Medium" pitchFamily="34" charset="0"/>
                <a:ea typeface="DM Sans Medium" pitchFamily="34" charset="-122"/>
                <a:cs typeface="DM Sans Medium" pitchFamily="34" charset="-120"/>
              </a:rPr>
              <a:t>Faster File Access</a:t>
            </a:r>
            <a:endParaRPr lang="en-US" sz="1600"/>
          </a:p>
        </p:txBody>
      </p:sp>
      <p:sp>
        <p:nvSpPr>
          <p:cNvPr id="15" name="Text 12"/>
          <p:cNvSpPr/>
          <p:nvPr/>
        </p:nvSpPr>
        <p:spPr>
          <a:xfrm>
            <a:off x="661475" y="3598863"/>
            <a:ext cx="5341605" cy="252611"/>
          </a:xfrm>
          <a:prstGeom prst="rect">
            <a:avLst/>
          </a:prstGeom>
          <a:noFill/>
          <a:ln/>
        </p:spPr>
        <p:txBody>
          <a:bodyPr wrap="none" lIns="0" tIns="0" rIns="0" bIns="0" rtlCol="0" anchor="t"/>
          <a:lstStyle/>
          <a:p>
            <a:pPr marL="0" indent="0" algn="l">
              <a:lnSpc>
                <a:spcPct val="126000"/>
              </a:lnSpc>
              <a:buNone/>
            </a:pPr>
            <a:r>
              <a:rPr lang="en-US" sz="1300">
                <a:solidFill>
                  <a:srgbClr val="161613"/>
                </a:solidFill>
                <a:latin typeface="Inter" pitchFamily="34" charset="0"/>
                <a:ea typeface="Inter" pitchFamily="34" charset="-122"/>
                <a:cs typeface="Inter" pitchFamily="34" charset="-120"/>
              </a:rPr>
              <a:t>Prefetching eliminates wait time for predicted files.</a:t>
            </a:r>
            <a:endParaRPr lang="en-US" sz="1300"/>
          </a:p>
        </p:txBody>
      </p:sp>
      <p:pic>
        <p:nvPicPr>
          <p:cNvPr id="1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88515" y="2727920"/>
            <a:ext cx="334855" cy="334863"/>
          </a:xfrm>
          <a:prstGeom prst="rect">
            <a:avLst/>
          </a:prstGeom>
        </p:spPr>
      </p:pic>
      <p:sp>
        <p:nvSpPr>
          <p:cNvPr id="17" name="Text 13"/>
          <p:cNvSpPr/>
          <p:nvPr/>
        </p:nvSpPr>
        <p:spPr>
          <a:xfrm>
            <a:off x="6188515" y="3248223"/>
            <a:ext cx="5341705" cy="261640"/>
          </a:xfrm>
          <a:prstGeom prst="rect">
            <a:avLst/>
          </a:prstGeom>
          <a:noFill/>
          <a:ln/>
        </p:spPr>
        <p:txBody>
          <a:bodyPr wrap="none" lIns="0" tIns="0" rIns="0" bIns="0" rtlCol="0" anchor="t"/>
          <a:lstStyle/>
          <a:p>
            <a:pPr marL="0" indent="0" algn="l">
              <a:lnSpc>
                <a:spcPct val="104000"/>
              </a:lnSpc>
              <a:buNone/>
            </a:pPr>
            <a:r>
              <a:rPr lang="en-US" sz="1600">
                <a:solidFill>
                  <a:srgbClr val="161613"/>
                </a:solidFill>
                <a:latin typeface="DM Sans Medium" pitchFamily="34" charset="0"/>
                <a:ea typeface="DM Sans Medium" pitchFamily="34" charset="-122"/>
                <a:cs typeface="DM Sans Medium" pitchFamily="34" charset="-120"/>
              </a:rPr>
              <a:t>Reduced Disk I/O</a:t>
            </a:r>
            <a:endParaRPr lang="en-US" sz="1600"/>
          </a:p>
        </p:txBody>
      </p:sp>
      <p:sp>
        <p:nvSpPr>
          <p:cNvPr id="18" name="Text 14"/>
          <p:cNvSpPr/>
          <p:nvPr/>
        </p:nvSpPr>
        <p:spPr>
          <a:xfrm>
            <a:off x="6188515" y="3598863"/>
            <a:ext cx="5341705" cy="252611"/>
          </a:xfrm>
          <a:prstGeom prst="rect">
            <a:avLst/>
          </a:prstGeom>
          <a:noFill/>
          <a:ln/>
        </p:spPr>
        <p:txBody>
          <a:bodyPr wrap="none" lIns="0" tIns="0" rIns="0" bIns="0" rtlCol="0" anchor="t"/>
          <a:lstStyle/>
          <a:p>
            <a:pPr marL="0" indent="0" algn="l">
              <a:lnSpc>
                <a:spcPct val="126000"/>
              </a:lnSpc>
              <a:buNone/>
            </a:pPr>
            <a:r>
              <a:rPr lang="en-US" sz="1300">
                <a:solidFill>
                  <a:srgbClr val="161613"/>
                </a:solidFill>
                <a:latin typeface="Inter" pitchFamily="34" charset="0"/>
                <a:ea typeface="Inter" pitchFamily="34" charset="-122"/>
                <a:cs typeface="Inter" pitchFamily="34" charset="-120"/>
              </a:rPr>
              <a:t>Fewer physical reads through intelligent pre-loading.</a:t>
            </a:r>
            <a:endParaRPr lang="en-US" sz="1300"/>
          </a:p>
        </p:txBody>
      </p:sp>
      <p:pic>
        <p:nvPicPr>
          <p:cNvPr id="1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4148138"/>
            <a:ext cx="334855" cy="334863"/>
          </a:xfrm>
          <a:prstGeom prst="rect">
            <a:avLst/>
          </a:prstGeom>
        </p:spPr>
      </p:pic>
      <p:sp>
        <p:nvSpPr>
          <p:cNvPr id="20" name="Text 15"/>
          <p:cNvSpPr/>
          <p:nvPr/>
        </p:nvSpPr>
        <p:spPr>
          <a:xfrm>
            <a:off x="661475" y="4668441"/>
            <a:ext cx="5341605" cy="261640"/>
          </a:xfrm>
          <a:prstGeom prst="rect">
            <a:avLst/>
          </a:prstGeom>
          <a:noFill/>
          <a:ln/>
        </p:spPr>
        <p:txBody>
          <a:bodyPr wrap="none" lIns="0" tIns="0" rIns="0" bIns="0" rtlCol="0" anchor="t"/>
          <a:lstStyle/>
          <a:p>
            <a:pPr marL="0" indent="0" algn="l">
              <a:lnSpc>
                <a:spcPct val="104000"/>
              </a:lnSpc>
              <a:buNone/>
            </a:pPr>
            <a:r>
              <a:rPr lang="en-US" sz="1600">
                <a:solidFill>
                  <a:srgbClr val="161613"/>
                </a:solidFill>
                <a:latin typeface="DM Sans Medium" pitchFamily="34" charset="0"/>
                <a:ea typeface="DM Sans Medium" pitchFamily="34" charset="-122"/>
                <a:cs typeface="DM Sans Medium" pitchFamily="34" charset="-120"/>
              </a:rPr>
              <a:t>Improved Responsiveness</a:t>
            </a:r>
            <a:endParaRPr lang="en-US" sz="1600"/>
          </a:p>
        </p:txBody>
      </p:sp>
      <p:sp>
        <p:nvSpPr>
          <p:cNvPr id="21" name="Text 16"/>
          <p:cNvSpPr/>
          <p:nvPr/>
        </p:nvSpPr>
        <p:spPr>
          <a:xfrm>
            <a:off x="661475" y="5019080"/>
            <a:ext cx="5341605" cy="252611"/>
          </a:xfrm>
          <a:prstGeom prst="rect">
            <a:avLst/>
          </a:prstGeom>
          <a:noFill/>
          <a:ln/>
        </p:spPr>
        <p:txBody>
          <a:bodyPr wrap="none" lIns="0" tIns="0" rIns="0" bIns="0" rtlCol="0" anchor="t"/>
          <a:lstStyle/>
          <a:p>
            <a:pPr marL="0" indent="0" algn="l">
              <a:lnSpc>
                <a:spcPct val="126000"/>
              </a:lnSpc>
              <a:buNone/>
            </a:pPr>
            <a:r>
              <a:rPr lang="en-US" sz="1300">
                <a:solidFill>
                  <a:srgbClr val="161613"/>
                </a:solidFill>
                <a:latin typeface="Inter" pitchFamily="34" charset="0"/>
                <a:ea typeface="Inter" pitchFamily="34" charset="-122"/>
                <a:cs typeface="Inter" pitchFamily="34" charset="-120"/>
              </a:rPr>
              <a:t>System anticipates needs before the user acts.</a:t>
            </a:r>
            <a:endParaRPr lang="en-US" sz="1300"/>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8515" y="4148138"/>
            <a:ext cx="334855" cy="334863"/>
          </a:xfrm>
          <a:prstGeom prst="rect">
            <a:avLst/>
          </a:prstGeom>
        </p:spPr>
      </p:pic>
      <p:sp>
        <p:nvSpPr>
          <p:cNvPr id="23" name="Text 17"/>
          <p:cNvSpPr/>
          <p:nvPr/>
        </p:nvSpPr>
        <p:spPr>
          <a:xfrm>
            <a:off x="6188515" y="4668441"/>
            <a:ext cx="5341705" cy="261640"/>
          </a:xfrm>
          <a:prstGeom prst="rect">
            <a:avLst/>
          </a:prstGeom>
          <a:noFill/>
          <a:ln/>
        </p:spPr>
        <p:txBody>
          <a:bodyPr wrap="none" lIns="0" tIns="0" rIns="0" bIns="0" rtlCol="0" anchor="t"/>
          <a:lstStyle/>
          <a:p>
            <a:pPr marL="0" indent="0" algn="l">
              <a:lnSpc>
                <a:spcPct val="104000"/>
              </a:lnSpc>
              <a:buNone/>
            </a:pPr>
            <a:r>
              <a:rPr lang="en-US" sz="1600">
                <a:solidFill>
                  <a:srgbClr val="161613"/>
                </a:solidFill>
                <a:latin typeface="DM Sans Medium" pitchFamily="34" charset="0"/>
                <a:ea typeface="DM Sans Medium" pitchFamily="34" charset="-122"/>
                <a:cs typeface="DM Sans Medium" pitchFamily="34" charset="-120"/>
              </a:rPr>
              <a:t>Adaptive File Management</a:t>
            </a:r>
            <a:endParaRPr lang="en-US" sz="1600"/>
          </a:p>
        </p:txBody>
      </p:sp>
      <p:sp>
        <p:nvSpPr>
          <p:cNvPr id="24" name="Text 18"/>
          <p:cNvSpPr/>
          <p:nvPr/>
        </p:nvSpPr>
        <p:spPr>
          <a:xfrm>
            <a:off x="6188515" y="5019080"/>
            <a:ext cx="5341705" cy="252611"/>
          </a:xfrm>
          <a:prstGeom prst="rect">
            <a:avLst/>
          </a:prstGeom>
          <a:noFill/>
          <a:ln/>
        </p:spPr>
        <p:txBody>
          <a:bodyPr wrap="none" lIns="0" tIns="0" rIns="0" bIns="0" rtlCol="0" anchor="t"/>
          <a:lstStyle/>
          <a:p>
            <a:pPr marL="0" indent="0" algn="l">
              <a:lnSpc>
                <a:spcPct val="126000"/>
              </a:lnSpc>
              <a:buNone/>
            </a:pPr>
            <a:r>
              <a:rPr lang="en-US" sz="1300">
                <a:solidFill>
                  <a:srgbClr val="161613"/>
                </a:solidFill>
                <a:latin typeface="Inter" pitchFamily="34" charset="0"/>
                <a:ea typeface="Inter" pitchFamily="34" charset="-122"/>
                <a:cs typeface="Inter" pitchFamily="34" charset="-120"/>
              </a:rPr>
              <a:t>ML model continuously learns and refines predictions.</a:t>
            </a:r>
            <a:endParaRPr lang="en-US" sz="1300"/>
          </a:p>
        </p:txBody>
      </p:sp>
      <p:sp>
        <p:nvSpPr>
          <p:cNvPr id="25" name="Shape 19"/>
          <p:cNvSpPr/>
          <p:nvPr/>
        </p:nvSpPr>
        <p:spPr>
          <a:xfrm>
            <a:off x="661475" y="5480348"/>
            <a:ext cx="10868745" cy="19050"/>
          </a:xfrm>
          <a:prstGeom prst="roundRect">
            <a:avLst>
              <a:gd name="adj" fmla="val 49999"/>
            </a:avLst>
          </a:prstGeom>
          <a:solidFill>
            <a:srgbClr val="161613">
              <a:alpha val="50000"/>
            </a:srgbClr>
          </a:solidFill>
          <a:ln/>
        </p:spPr>
      </p:sp>
      <p:sp>
        <p:nvSpPr>
          <p:cNvPr id="26" name="Text 20"/>
          <p:cNvSpPr/>
          <p:nvPr/>
        </p:nvSpPr>
        <p:spPr>
          <a:xfrm>
            <a:off x="912591" y="5874941"/>
            <a:ext cx="11227214" cy="252611"/>
          </a:xfrm>
          <a:prstGeom prst="rect">
            <a:avLst/>
          </a:prstGeom>
          <a:noFill/>
          <a:ln/>
        </p:spPr>
        <p:txBody>
          <a:bodyPr wrap="none" lIns="0" tIns="0" rIns="0" bIns="0" rtlCol="0" anchor="t"/>
          <a:lstStyle/>
          <a:p>
            <a:pPr marL="0" indent="0" algn="l">
              <a:lnSpc>
                <a:spcPct val="126000"/>
              </a:lnSpc>
              <a:buNone/>
            </a:pPr>
            <a:r>
              <a:rPr lang="en-US" sz="1300" b="1">
                <a:solidFill>
                  <a:srgbClr val="161613"/>
                </a:solidFill>
                <a:latin typeface="Inter Bold" pitchFamily="34" charset="0"/>
                <a:ea typeface="Inter Bold" pitchFamily="34" charset="-122"/>
                <a:cs typeface="Inter Bold" pitchFamily="34" charset="-120"/>
              </a:rPr>
              <a:t>FileMind</a:t>
            </a:r>
            <a:r>
              <a:rPr lang="en-US" sz="1300">
                <a:solidFill>
                  <a:srgbClr val="161613"/>
                </a:solidFill>
                <a:latin typeface="Inter" pitchFamily="34" charset="0"/>
                <a:ea typeface="Inter" pitchFamily="34" charset="-122"/>
                <a:cs typeface="Inter" pitchFamily="34" charset="-120"/>
              </a:rPr>
              <a:t> — </a:t>
            </a:r>
            <a:r>
              <a:rPr lang="en-US" sz="1300" i="1">
                <a:solidFill>
                  <a:srgbClr val="161613"/>
                </a:solidFill>
                <a:latin typeface="Inter" pitchFamily="34" charset="0"/>
                <a:ea typeface="Inter" pitchFamily="34" charset="-122"/>
                <a:cs typeface="Inter" pitchFamily="34" charset="-120"/>
              </a:rPr>
              <a:t>Predict. Prefetch. Perform.</a:t>
            </a:r>
            <a:endParaRPr lang="en-US" sz="1300"/>
          </a:p>
        </p:txBody>
      </p:sp>
      <p:sp>
        <p:nvSpPr>
          <p:cNvPr id="27" name="Shape 21"/>
          <p:cNvSpPr/>
          <p:nvPr/>
        </p:nvSpPr>
        <p:spPr>
          <a:xfrm>
            <a:off x="661475" y="5708055"/>
            <a:ext cx="19050" cy="586383"/>
          </a:xfrm>
          <a:prstGeom prst="roundRect">
            <a:avLst>
              <a:gd name="adj" fmla="val 49999"/>
            </a:avLst>
          </a:prstGeom>
          <a:solidFill>
            <a:srgbClr val="28282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1BE04C-4F01-D59D-5AF9-E51DDB90E6FE}"/>
              </a:ext>
            </a:extLst>
          </p:cNvPr>
          <p:cNvSpPr txBox="1"/>
          <p:nvPr/>
        </p:nvSpPr>
        <p:spPr>
          <a:xfrm>
            <a:off x="361561" y="1180552"/>
            <a:ext cx="6097554" cy="5355312"/>
          </a:xfrm>
          <a:prstGeom prst="rect">
            <a:avLst/>
          </a:prstGeom>
          <a:noFill/>
        </p:spPr>
        <p:txBody>
          <a:bodyPr wrap="square">
            <a:spAutoFit/>
          </a:bodyPr>
          <a:lstStyle/>
          <a:p>
            <a:r>
              <a:rPr lang="en-IN"/>
              <a:t>USER</a:t>
            </a:r>
          </a:p>
          <a:p>
            <a:r>
              <a:rPr lang="en-IN"/>
              <a:t>  ↓</a:t>
            </a:r>
          </a:p>
          <a:p>
            <a:r>
              <a:rPr lang="en-IN"/>
              <a:t>FILE ACCESS</a:t>
            </a:r>
          </a:p>
          <a:p>
            <a:r>
              <a:rPr lang="en-IN"/>
              <a:t>  ↓</a:t>
            </a:r>
          </a:p>
          <a:p>
            <a:r>
              <a:rPr lang="en-IN"/>
              <a:t>OS FILE SYSTEM</a:t>
            </a:r>
          </a:p>
          <a:p>
            <a:r>
              <a:rPr lang="en-IN"/>
              <a:t>  ↓</a:t>
            </a:r>
          </a:p>
          <a:p>
            <a:r>
              <a:rPr lang="en-IN"/>
              <a:t>LINUX SYSTEM CALLS</a:t>
            </a:r>
          </a:p>
          <a:p>
            <a:r>
              <a:rPr lang="en-IN"/>
              <a:t>  ↓</a:t>
            </a:r>
          </a:p>
          <a:p>
            <a:r>
              <a:rPr lang="en-IN"/>
              <a:t>ACCESS HISTORY</a:t>
            </a:r>
          </a:p>
          <a:p>
            <a:r>
              <a:rPr lang="en-IN"/>
              <a:t>  ↓</a:t>
            </a:r>
          </a:p>
          <a:p>
            <a:r>
              <a:rPr lang="en-IN"/>
              <a:t>PATTERN ANALYSIS</a:t>
            </a:r>
          </a:p>
          <a:p>
            <a:r>
              <a:rPr lang="en-IN"/>
              <a:t>  ↓</a:t>
            </a:r>
          </a:p>
          <a:p>
            <a:r>
              <a:rPr lang="en-IN"/>
              <a:t>ML PREDICTION</a:t>
            </a:r>
          </a:p>
          <a:p>
            <a:r>
              <a:rPr lang="en-IN"/>
              <a:t>  ↓</a:t>
            </a:r>
          </a:p>
          <a:p>
            <a:r>
              <a:rPr lang="en-IN"/>
              <a:t>PREDICTED FILE</a:t>
            </a:r>
          </a:p>
          <a:p>
            <a:r>
              <a:rPr lang="en-IN"/>
              <a:t>  ↓</a:t>
            </a:r>
          </a:p>
          <a:p>
            <a:r>
              <a:rPr lang="en-IN"/>
              <a:t>PREFETCH INTO MEMORY</a:t>
            </a:r>
          </a:p>
          <a:p>
            <a:r>
              <a:rPr lang="en-IN"/>
              <a:t>  ↓</a:t>
            </a:r>
          </a:p>
          <a:p>
            <a:r>
              <a:rPr lang="en-IN"/>
              <a:t>FASTER ACCESS</a:t>
            </a:r>
          </a:p>
        </p:txBody>
      </p:sp>
      <p:sp>
        <p:nvSpPr>
          <p:cNvPr id="5" name="TextBox 4">
            <a:extLst>
              <a:ext uri="{FF2B5EF4-FFF2-40B4-BE49-F238E27FC236}">
                <a16:creationId xmlns:a16="http://schemas.microsoft.com/office/drawing/2014/main" id="{2CA43F5C-795F-5C24-80B1-46FF8D5464F5}"/>
              </a:ext>
            </a:extLst>
          </p:cNvPr>
          <p:cNvSpPr txBox="1"/>
          <p:nvPr/>
        </p:nvSpPr>
        <p:spPr>
          <a:xfrm>
            <a:off x="223935" y="242596"/>
            <a:ext cx="3452326" cy="783771"/>
          </a:xfrm>
          <a:prstGeom prst="rect">
            <a:avLst/>
          </a:prstGeom>
          <a:noFill/>
        </p:spPr>
        <p:txBody>
          <a:bodyPr wrap="square" rtlCol="0">
            <a:spAutoFit/>
          </a:bodyPr>
          <a:lstStyle/>
          <a:p>
            <a:r>
              <a:rPr lang="en-IN" sz="4400"/>
              <a:t>Actual flow:</a:t>
            </a:r>
          </a:p>
        </p:txBody>
      </p:sp>
    </p:spTree>
    <p:extLst>
      <p:ext uri="{BB962C8B-B14F-4D97-AF65-F5344CB8AC3E}">
        <p14:creationId xmlns:p14="http://schemas.microsoft.com/office/powerpoint/2010/main" val="3101470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5C19F9-1630-5B3D-BEF1-E88978E66C7D}"/>
              </a:ext>
            </a:extLst>
          </p:cNvPr>
          <p:cNvSpPr txBox="1"/>
          <p:nvPr/>
        </p:nvSpPr>
        <p:spPr>
          <a:xfrm>
            <a:off x="4601497" y="2487562"/>
            <a:ext cx="3658950" cy="1015663"/>
          </a:xfrm>
          <a:prstGeom prst="rect">
            <a:avLst/>
          </a:prstGeom>
          <a:noFill/>
        </p:spPr>
        <p:txBody>
          <a:bodyPr wrap="none" rtlCol="0">
            <a:spAutoFit/>
          </a:bodyPr>
          <a:lstStyle/>
          <a:p>
            <a:r>
              <a:rPr lang="en-IN" sz="6000"/>
              <a:t>Thank you!</a:t>
            </a:r>
          </a:p>
        </p:txBody>
      </p:sp>
    </p:spTree>
    <p:extLst>
      <p:ext uri="{BB962C8B-B14F-4D97-AF65-F5344CB8AC3E}">
        <p14:creationId xmlns:p14="http://schemas.microsoft.com/office/powerpoint/2010/main" val="3925030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761</Words>
  <Application>Microsoft Office PowerPoint</Application>
  <PresentationFormat>Widescreen</PresentationFormat>
  <Paragraphs>149</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Inter Bold</vt:lpstr>
      <vt:lpstr>Inter</vt:lpstr>
      <vt:lpstr>DM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komala shravya</dc:creator>
  <cp:lastModifiedBy>komala shravya</cp:lastModifiedBy>
  <cp:revision>24</cp:revision>
  <dcterms:created xsi:type="dcterms:W3CDTF">2026-08-12T05:34:23Z</dcterms:created>
  <dcterms:modified xsi:type="dcterms:W3CDTF">2026-09-15T15:31:45Z</dcterms:modified>
</cp:coreProperties>
</file>